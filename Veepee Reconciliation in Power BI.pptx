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Veepee is an online marketplace that sells M&amp;S products. Each month Veepee sends an accounting report of what it sold and refunded for us, and separately pays us through remittance files, net of its commission. Two people need to reconcile this. Hazel works the GL: does SAP hold the same sales, refunds and commission as Veepee says? Summer works the cash: each payment covers many orders across several months, and she has to know which month to post it to. Both were done by hand in Excel.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get three kinds of file. Veepee’s monthly accounting export is an Excel workbook in French, with sales on the Facture sheet and refunds on the Avoir sheet. The SAP download gives us the GL postings. And each Veepee payment comes with a remittance CSV. The hard part is that nothing lines up directly: the same line can appear in two monthly reports, the commission sign is reversed, an order can be sold in one month and refunded the next, and SAP only keeps 16 characters of the 17-character order number. In Excel that meant lookups across almost 100,000 lines and a manual Open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Veepee’s report has one row per item with several amount columns side by side. SAP has one posting per document type and GL. So we add two columns. The first, SAP Document Type, comes from the sheet: Facture is a sale so XR, Avoir is a refund so XS. The second, G/L Account, comes from which amount column we read: the sales and shipping columns go to 248601, and the commission column, Rem VP, goes to 348919, multiplied by minus one because Veepee shows it as positive while SAP books it as a cost. That gives every order up to four rows, and a key of order plus doc type plus GL that SAP can match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moves the whole process into Power BI. Power Query reads the three SharePoint folders, so adding a month means dropping a file in and refreshing. It reshapes Veepee’s sheets into XR and XS rows on the two GLs, removes the lines Veepee repeats between monthly reports, groups SAP per key and matches the two in both directions, so we see what is missing on either side. Every key then gets a reason, so open or settled is calculated, not typed. For Summer, each remittance line is matched to the same key and given the month Veepee first reported the order, which is the month she posts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 For Hazel, 91.6 percent of the 30,502 order lines settle automatically, and the 2,563 open ones each carry a reason, so the 20,725.95 euro gap between SAP and Veepee is fully explained. It also surfaced 62 orders Veepee cancelled where SAP never posted the refund. For Summer, all 13 remittances tie to the cent, 401 thousand euros posts straight to the right month, and only four orders, worth 115.91 euros, need to be queried with Veepee. What used to take days of lookups is now a refresh, with one consistent rule and a drill-through to the exact SAP posting and Veepee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54720"/>
            <a:ext cx="10566400" cy="893961"/>
          </a:xfrm>
          <a:prstGeom prst="rect">
            <a:avLst/>
          </a:prstGeom>
          <a:noFill/>
          <a:ln/>
        </p:spPr>
        <p:txBody>
          <a:bodyPr wrap="square" lIns="0" tIns="0" rIns="0" bIns="0" rtlCol="0" anchor="t"/>
          <a:lstStyle>
            <a:lvl1pPr algn="l" indent="0" marL="0">
              <a:lnSpc>
                <a:spcPct val="115000"/>
              </a:lnSpc>
              <a:buNone/>
              <a:defRPr lang="en-US" sz="3200" dirty="0">
                <a:solidFill>
                  <a:srgbClr val="1D2A33"/>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453481"/>
            <a:ext cx="10566400" cy="3591719"/>
          </a:xfrm>
          <a:prstGeom prst="rect">
            <a:avLst/>
          </a:prstGeom>
          <a:noFill/>
          <a:ln/>
        </p:spPr>
        <p:txBody>
          <a:bodyPr wrap="square" lIns="0" tIns="0" rIns="0" bIns="0" rtlCol="0" anchor="t"/>
          <a:lstStyle>
            <a:lvl1pPr algn="l" indent="0" marL="0">
              <a:lnSpc>
                <a:spcPct val="140000"/>
              </a:lnSpc>
              <a:buNone/>
              <a:defRPr lang="en-US" sz="1600" dirty="0">
                <a:solidFill>
                  <a:srgbClr val="1D2A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54720"/>
            <a:ext cx="10566400" cy="893961"/>
          </a:xfrm>
          <a:prstGeom prst="rect">
            <a:avLst/>
          </a:prstGeom>
          <a:noFill/>
          <a:ln/>
        </p:spPr>
        <p:txBody>
          <a:bodyPr wrap="square" lIns="0" tIns="0" rIns="0" bIns="0" rtlCol="0" anchor="t"/>
          <a:lstStyle>
            <a:lvl1pPr algn="l" indent="0" marL="0">
              <a:lnSpc>
                <a:spcPct val="115000"/>
              </a:lnSpc>
              <a:buNone/>
              <a:defRPr lang="en-US" sz="3200" dirty="0">
                <a:solidFill>
                  <a:srgbClr val="1D2A33"/>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453481"/>
            <a:ext cx="10566400" cy="3591719"/>
          </a:xfrm>
          <a:prstGeom prst="rect">
            <a:avLst/>
          </a:prstGeom>
          <a:noFill/>
          <a:ln/>
        </p:spPr>
        <p:txBody>
          <a:bodyPr wrap="square" lIns="0" tIns="0" rIns="0" bIns="0" rtlCol="0" anchor="t"/>
          <a:lstStyle>
            <a:lvl1pPr algn="l" indent="0" marL="0">
              <a:lnSpc>
                <a:spcPct val="140000"/>
              </a:lnSpc>
              <a:buNone/>
              <a:defRPr lang="en-US" sz="1600" dirty="0">
                <a:solidFill>
                  <a:srgbClr val="1D2A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E99"/>
                </a:solidFill>
                <a:latin typeface="IBM Plex Sans" pitchFamily="34" charset="0"/>
                <a:ea typeface="IBM Plex Sans" pitchFamily="34" charset="-122"/>
                <a:cs typeface="IBM Plex Sans" pitchFamily="34" charset="-120"/>
              </a:rPr>
              <a:t>VEEPEE RECONCILIATION · M&amp;S BSC FINANCE</a:t>
            </a:r>
            <a:endParaRPr lang="en-US" sz="1200" dirty="0"/>
          </a:p>
        </p:txBody>
      </p:sp>
      <p:sp>
        <p:nvSpPr>
          <p:cNvPr id="3" name="Text 1"/>
          <p:cNvSpPr/>
          <p:nvPr>
            <p:ph type="title"/>
          </p:nvPr>
        </p:nvSpPr>
        <p:spPr>
          <a:xfrm>
            <a:off x="812800" y="1305520"/>
            <a:ext cx="9810750" cy="1533922"/>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2A33"/>
                </a:solidFill>
                <a:latin typeface="Source Serif 4" pitchFamily="18" charset="0"/>
                <a:ea typeface="Source Serif 4" pitchFamily="18" charset="-122"/>
                <a:cs typeface="Source Serif 4" pitchFamily="18" charset="-120"/>
              </a:rPr>
              <a:t>Veepee is a marketplace we sell through, and two people reconcile it in two different ways</a:t>
            </a:r>
            <a:endParaRPr lang="en-US" sz="3600" dirty="0"/>
          </a:p>
        </p:txBody>
      </p:sp>
      <p:sp>
        <p:nvSpPr>
          <p:cNvPr id="4" name="Shape 2"/>
          <p:cNvSpPr/>
          <p:nvPr/>
        </p:nvSpPr>
        <p:spPr>
          <a:xfrm>
            <a:off x="812800" y="3093442"/>
            <a:ext cx="5156200" cy="2409031"/>
          </a:xfrm>
          <a:prstGeom prst="roundRect">
            <a:avLst>
              <a:gd name="adj" fmla="val 4217"/>
            </a:avLst>
          </a:prstGeom>
          <a:solidFill>
            <a:srgbClr val="FFFFFF"/>
          </a:solidFill>
          <a:ln/>
        </p:spPr>
      </p:sp>
      <p:sp>
        <p:nvSpPr>
          <p:cNvPr id="5" name="Shape 3"/>
          <p:cNvSpPr/>
          <p:nvPr/>
        </p:nvSpPr>
        <p:spPr>
          <a:xfrm>
            <a:off x="812800" y="3093442"/>
            <a:ext cx="5156200" cy="2409031"/>
          </a:xfrm>
          <a:custGeom>
            <a:avLst/>
            <a:gdLst/>
            <a:ahLst/>
            <a:cxnLst/>
            <a:rect l="l" t="t" r="r" b="b"/>
            <a:pathLst>
              <a:path w="5156200" h="2409031">
                <a:moveTo>
                  <a:pt x="0" y="101600"/>
                </a:moveTo>
                <a:lnTo>
                  <a:pt x="0" y="101600"/>
                </a:lnTo>
                <a:arcTo hR="101600" wR="101600" stAng="10800000" swAng="5400000"/>
                <a:lnTo>
                  <a:pt x="5054600" y="0"/>
                </a:lnTo>
                <a:arcTo hR="101600" wR="101600" stAng="16200000" swAng="5400000"/>
                <a:lnTo>
                  <a:pt x="5156200" y="101600"/>
                </a:lnTo>
                <a:arcTo hR="50800" wR="101600" stAng="0" swAng="-5400000"/>
                <a:lnTo>
                  <a:pt x="101600" y="50800"/>
                </a:lnTo>
                <a:arcTo hR="50800" wR="101600" stAng="16200000" swAng="-5400000"/>
                <a:close/>
              </a:path>
            </a:pathLst>
          </a:custGeom>
          <a:solidFill>
            <a:srgbClr val="2F6E99"/>
          </a:solidFill>
          <a:ln/>
        </p:spPr>
      </p:sp>
      <p:sp>
        <p:nvSpPr>
          <p:cNvPr id="6" name="Text 4"/>
          <p:cNvSpPr/>
          <p:nvPr/>
        </p:nvSpPr>
        <p:spPr>
          <a:xfrm>
            <a:off x="1092200" y="3423642"/>
            <a:ext cx="473532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E99"/>
                </a:solidFill>
                <a:latin typeface="IBM Plex Sans" pitchFamily="34" charset="0"/>
                <a:ea typeface="IBM Plex Sans" pitchFamily="34" charset="-122"/>
                <a:cs typeface="IBM Plex Sans" pitchFamily="34" charset="-120"/>
              </a:rPr>
              <a:t>HAZEL · GL RECONCILIATION</a:t>
            </a:r>
            <a:endParaRPr lang="en-US" sz="1200" dirty="0"/>
          </a:p>
        </p:txBody>
      </p:sp>
      <p:sp>
        <p:nvSpPr>
          <p:cNvPr id="7" name="Text 5"/>
          <p:cNvSpPr/>
          <p:nvPr/>
        </p:nvSpPr>
        <p:spPr>
          <a:xfrm>
            <a:off x="1092200" y="3738563"/>
            <a:ext cx="4735322"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2A33"/>
                </a:solidFill>
                <a:latin typeface="IBM Plex Sans" pitchFamily="34" charset="0"/>
                <a:ea typeface="IBM Plex Sans" pitchFamily="34" charset="-122"/>
                <a:cs typeface="IBM Plex Sans" pitchFamily="34" charset="-120"/>
              </a:rPr>
              <a:t>Did every Veepee sale, refund and commission land in SAP?</a:t>
            </a:r>
            <a:endParaRPr lang="en-US" sz="2000" dirty="0"/>
          </a:p>
        </p:txBody>
      </p:sp>
      <p:sp>
        <p:nvSpPr>
          <p:cNvPr id="8" name="Text 6"/>
          <p:cNvSpPr/>
          <p:nvPr/>
        </p:nvSpPr>
        <p:spPr>
          <a:xfrm>
            <a:off x="1092200" y="4449763"/>
            <a:ext cx="4735322"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35B"/>
                </a:solidFill>
                <a:latin typeface="IBM Plex Sans" pitchFamily="34" charset="0"/>
                <a:ea typeface="IBM Plex Sans" pitchFamily="34" charset="-122"/>
                <a:cs typeface="IBM Plex Sans" pitchFamily="34" charset="-120"/>
              </a:rPr>
              <a:t>Match Veepee’s monthly reports to SAP postings on GL 248601 (sales) and 348919 (commission), and know what is still open and why.</a:t>
            </a:r>
            <a:endParaRPr lang="en-US" sz="1400" dirty="0"/>
          </a:p>
        </p:txBody>
      </p:sp>
      <p:sp>
        <p:nvSpPr>
          <p:cNvPr id="9" name="Shape 7"/>
          <p:cNvSpPr/>
          <p:nvPr/>
        </p:nvSpPr>
        <p:spPr>
          <a:xfrm>
            <a:off x="6223000" y="3093442"/>
            <a:ext cx="5156200" cy="2409031"/>
          </a:xfrm>
          <a:prstGeom prst="roundRect">
            <a:avLst>
              <a:gd name="adj" fmla="val 4217"/>
            </a:avLst>
          </a:prstGeom>
          <a:solidFill>
            <a:srgbClr val="FFFFFF"/>
          </a:solidFill>
          <a:ln/>
        </p:spPr>
      </p:sp>
      <p:sp>
        <p:nvSpPr>
          <p:cNvPr id="10" name="Shape 8"/>
          <p:cNvSpPr/>
          <p:nvPr/>
        </p:nvSpPr>
        <p:spPr>
          <a:xfrm>
            <a:off x="6223000" y="3093442"/>
            <a:ext cx="5156200" cy="2409031"/>
          </a:xfrm>
          <a:custGeom>
            <a:avLst/>
            <a:gdLst/>
            <a:ahLst/>
            <a:cxnLst/>
            <a:rect l="l" t="t" r="r" b="b"/>
            <a:pathLst>
              <a:path w="5156200" h="2409031">
                <a:moveTo>
                  <a:pt x="0" y="101600"/>
                </a:moveTo>
                <a:lnTo>
                  <a:pt x="0" y="101600"/>
                </a:lnTo>
                <a:arcTo hR="101600" wR="101600" stAng="10800000" swAng="5400000"/>
                <a:lnTo>
                  <a:pt x="5054600" y="0"/>
                </a:lnTo>
                <a:arcTo hR="101600" wR="101600" stAng="16200000" swAng="5400000"/>
                <a:lnTo>
                  <a:pt x="5156200" y="101600"/>
                </a:lnTo>
                <a:arcTo hR="50800" wR="101600" stAng="0" swAng="-5400000"/>
                <a:lnTo>
                  <a:pt x="101600" y="50800"/>
                </a:lnTo>
                <a:arcTo hR="50800" wR="101600" stAng="16200000" swAng="-5400000"/>
                <a:close/>
              </a:path>
            </a:pathLst>
          </a:custGeom>
          <a:solidFill>
            <a:srgbClr val="B5541A"/>
          </a:solidFill>
          <a:ln/>
        </p:spPr>
      </p:sp>
      <p:sp>
        <p:nvSpPr>
          <p:cNvPr id="11" name="Text 9"/>
          <p:cNvSpPr/>
          <p:nvPr/>
        </p:nvSpPr>
        <p:spPr>
          <a:xfrm>
            <a:off x="6502400" y="3423642"/>
            <a:ext cx="473532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A4615"/>
                </a:solidFill>
                <a:latin typeface="IBM Plex Sans" pitchFamily="34" charset="0"/>
                <a:ea typeface="IBM Plex Sans" pitchFamily="34" charset="-122"/>
                <a:cs typeface="IBM Plex Sans" pitchFamily="34" charset="-120"/>
              </a:rPr>
              <a:t>SUMMER · CASH ALLOCATION</a:t>
            </a:r>
            <a:endParaRPr lang="en-US" sz="1200" dirty="0"/>
          </a:p>
        </p:txBody>
      </p:sp>
      <p:sp>
        <p:nvSpPr>
          <p:cNvPr id="12" name="Text 10"/>
          <p:cNvSpPr/>
          <p:nvPr/>
        </p:nvSpPr>
        <p:spPr>
          <a:xfrm>
            <a:off x="6502400" y="3738563"/>
            <a:ext cx="4735322"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2A33"/>
                </a:solidFill>
                <a:latin typeface="IBM Plex Sans" pitchFamily="34" charset="0"/>
                <a:ea typeface="IBM Plex Sans" pitchFamily="34" charset="-122"/>
                <a:cs typeface="IBM Plex Sans" pitchFamily="34" charset="-120"/>
              </a:rPr>
              <a:t>Which orders did each Veepee payment cover, and for which month?</a:t>
            </a:r>
            <a:endParaRPr lang="en-US" sz="2000" dirty="0"/>
          </a:p>
        </p:txBody>
      </p:sp>
      <p:sp>
        <p:nvSpPr>
          <p:cNvPr id="13" name="Text 11"/>
          <p:cNvSpPr/>
          <p:nvPr/>
        </p:nvSpPr>
        <p:spPr>
          <a:xfrm>
            <a:off x="6502400" y="4449763"/>
            <a:ext cx="4735322"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35B"/>
                </a:solidFill>
                <a:latin typeface="IBM Plex Sans" pitchFamily="34" charset="0"/>
                <a:ea typeface="IBM Plex Sans" pitchFamily="34" charset="-122"/>
                <a:cs typeface="IBM Plex Sans" pitchFamily="34" charset="-120"/>
              </a:rPr>
              <a:t>Match every remittance line to a Veepee order, post the cash to the right month, and chase what doesn’t match.</a:t>
            </a:r>
            <a:endParaRPr lang="en-US" sz="14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May to Sep 2026 · 12,500 orders · 30,502 order lines matched · 13 remittances worth €397,323.59</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E99"/>
                </a:solidFill>
                <a:latin typeface="IBM Plex Sans" pitchFamily="34" charset="0"/>
                <a:ea typeface="IBM Plex Sans" pitchFamily="34" charset="-122"/>
                <a:cs typeface="IBM Plex Sans" pitchFamily="34" charset="-120"/>
              </a:rPr>
              <a:t>THE FILES WE GET</a:t>
            </a:r>
            <a:endParaRPr lang="en-US" sz="1200" dirty="0"/>
          </a:p>
        </p:txBody>
      </p:sp>
      <p:sp>
        <p:nvSpPr>
          <p:cNvPr id="3" name="Text 1"/>
          <p:cNvSpPr/>
          <p:nvPr>
            <p:ph type="title"/>
          </p:nvPr>
        </p:nvSpPr>
        <p:spPr>
          <a:xfrm>
            <a:off x="812800" y="12547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D2A33"/>
                </a:solidFill>
                <a:latin typeface="Source Serif 4" pitchFamily="18" charset="0"/>
                <a:ea typeface="Source Serif 4" pitchFamily="18" charset="-122"/>
                <a:cs typeface="Source Serif 4" pitchFamily="18" charset="-120"/>
              </a:rPr>
              <a:t>Three sources, three formats, and none of them share a key</a:t>
            </a:r>
            <a:endParaRPr lang="en-US" sz="3200" dirty="0"/>
          </a:p>
        </p:txBody>
      </p:sp>
      <p:sp>
        <p:nvSpPr>
          <p:cNvPr id="4" name="Shape 2"/>
          <p:cNvSpPr/>
          <p:nvPr/>
        </p:nvSpPr>
        <p:spPr>
          <a:xfrm>
            <a:off x="812800" y="2377281"/>
            <a:ext cx="3403600" cy="1566962"/>
          </a:xfrm>
          <a:prstGeom prst="roundRect">
            <a:avLst>
              <a:gd name="adj" fmla="val 6484"/>
            </a:avLst>
          </a:prstGeom>
          <a:solidFill>
            <a:srgbClr val="FFFFFF"/>
          </a:solidFill>
          <a:ln/>
        </p:spPr>
      </p:sp>
      <p:sp>
        <p:nvSpPr>
          <p:cNvPr id="5" name="Text 3"/>
          <p:cNvSpPr/>
          <p:nvPr/>
        </p:nvSpPr>
        <p:spPr>
          <a:xfrm>
            <a:off x="1016000" y="2580481"/>
            <a:ext cx="308711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A33"/>
                </a:solidFill>
                <a:latin typeface="IBM Plex Sans" pitchFamily="34" charset="0"/>
                <a:ea typeface="IBM Plex Sans" pitchFamily="34" charset="-122"/>
                <a:cs typeface="IBM Plex Sans" pitchFamily="34" charset="-120"/>
              </a:rPr>
              <a:t>Veepee monthly report</a:t>
            </a:r>
            <a:endParaRPr lang="en-US" sz="1600" dirty="0"/>
          </a:p>
        </p:txBody>
      </p:sp>
      <p:sp>
        <p:nvSpPr>
          <p:cNvPr id="6" name="Text 4"/>
          <p:cNvSpPr/>
          <p:nvPr/>
        </p:nvSpPr>
        <p:spPr>
          <a:xfrm>
            <a:off x="1016000" y="2887762"/>
            <a:ext cx="3087116"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5B"/>
                </a:solidFill>
                <a:latin typeface="IBM Plex Sans" pitchFamily="34" charset="0"/>
                <a:ea typeface="IBM Plex Sans" pitchFamily="34" charset="-122"/>
                <a:cs typeface="IBM Plex Sans" pitchFamily="34" charset="-120"/>
              </a:rPr>
              <a:t>Excel, French headers. A “Facture” sheet for sales and an “Avoir” sheet for refunds. About 19,000 lines a month, and months overlap.</a:t>
            </a:r>
            <a:endParaRPr lang="en-US" sz="1200" dirty="0"/>
          </a:p>
        </p:txBody>
      </p:sp>
      <p:sp>
        <p:nvSpPr>
          <p:cNvPr id="7" name="Shape 5"/>
          <p:cNvSpPr/>
          <p:nvPr/>
        </p:nvSpPr>
        <p:spPr>
          <a:xfrm>
            <a:off x="4394200" y="2377281"/>
            <a:ext cx="3403600" cy="1566962"/>
          </a:xfrm>
          <a:prstGeom prst="roundRect">
            <a:avLst>
              <a:gd name="adj" fmla="val 6484"/>
            </a:avLst>
          </a:prstGeom>
          <a:solidFill>
            <a:srgbClr val="FFFFFF"/>
          </a:solidFill>
          <a:ln/>
        </p:spPr>
      </p:sp>
      <p:sp>
        <p:nvSpPr>
          <p:cNvPr id="8" name="Text 6"/>
          <p:cNvSpPr/>
          <p:nvPr/>
        </p:nvSpPr>
        <p:spPr>
          <a:xfrm>
            <a:off x="4597400" y="2580481"/>
            <a:ext cx="308711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A33"/>
                </a:solidFill>
                <a:latin typeface="IBM Plex Sans" pitchFamily="34" charset="0"/>
                <a:ea typeface="IBM Plex Sans" pitchFamily="34" charset="-122"/>
                <a:cs typeface="IBM Plex Sans" pitchFamily="34" charset="-120"/>
              </a:rPr>
              <a:t>SAP download</a:t>
            </a:r>
            <a:endParaRPr lang="en-US" sz="1600" dirty="0"/>
          </a:p>
        </p:txBody>
      </p:sp>
      <p:sp>
        <p:nvSpPr>
          <p:cNvPr id="9" name="Text 7"/>
          <p:cNvSpPr/>
          <p:nvPr/>
        </p:nvSpPr>
        <p:spPr>
          <a:xfrm>
            <a:off x="4597400" y="2887762"/>
            <a:ext cx="308711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5B"/>
                </a:solidFill>
                <a:latin typeface="IBM Plex Sans" pitchFamily="34" charset="0"/>
                <a:ea typeface="IBM Plex Sans" pitchFamily="34" charset="-122"/>
                <a:cs typeface="IBM Plex Sans" pitchFamily="34" charset="-120"/>
              </a:rPr>
              <a:t>GL 248601 and 348919, doc types XR (invoice) and XS (credit). Reference holds only 16 of the order’s 17 characters.</a:t>
            </a:r>
            <a:endParaRPr lang="en-US" sz="1200" dirty="0"/>
          </a:p>
        </p:txBody>
      </p:sp>
      <p:sp>
        <p:nvSpPr>
          <p:cNvPr id="10" name="Shape 8"/>
          <p:cNvSpPr/>
          <p:nvPr/>
        </p:nvSpPr>
        <p:spPr>
          <a:xfrm>
            <a:off x="7975600" y="2377281"/>
            <a:ext cx="3403600" cy="1566962"/>
          </a:xfrm>
          <a:prstGeom prst="roundRect">
            <a:avLst>
              <a:gd name="adj" fmla="val 6484"/>
            </a:avLst>
          </a:prstGeom>
          <a:solidFill>
            <a:srgbClr val="FFFFFF"/>
          </a:solidFill>
          <a:ln/>
        </p:spPr>
      </p:sp>
      <p:sp>
        <p:nvSpPr>
          <p:cNvPr id="11" name="Text 9"/>
          <p:cNvSpPr/>
          <p:nvPr/>
        </p:nvSpPr>
        <p:spPr>
          <a:xfrm>
            <a:off x="8178800" y="2580481"/>
            <a:ext cx="308711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A33"/>
                </a:solidFill>
                <a:latin typeface="IBM Plex Sans" pitchFamily="34" charset="0"/>
                <a:ea typeface="IBM Plex Sans" pitchFamily="34" charset="-122"/>
                <a:cs typeface="IBM Plex Sans" pitchFamily="34" charset="-120"/>
              </a:rPr>
              <a:t>Remittance files</a:t>
            </a:r>
            <a:endParaRPr lang="en-US" sz="1600" dirty="0"/>
          </a:p>
        </p:txBody>
      </p:sp>
      <p:sp>
        <p:nvSpPr>
          <p:cNvPr id="12" name="Text 10"/>
          <p:cNvSpPr/>
          <p:nvPr/>
        </p:nvSpPr>
        <p:spPr>
          <a:xfrm>
            <a:off x="8178800" y="2887762"/>
            <a:ext cx="308711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5B"/>
                </a:solidFill>
                <a:latin typeface="IBM Plex Sans" pitchFamily="34" charset="0"/>
                <a:ea typeface="IBM Plex Sans" pitchFamily="34" charset="-122"/>
                <a:cs typeface="IBM Plex Sans" pitchFamily="34" charset="-120"/>
              </a:rPr>
              <a:t>One CSV per payment, 13 so far. Each pays orders from several months, with commission and refunds netted off.</a:t>
            </a:r>
            <a:endParaRPr lang="en-US" sz="1200" dirty="0"/>
          </a:p>
        </p:txBody>
      </p:sp>
      <p:sp>
        <p:nvSpPr>
          <p:cNvPr id="13" name="Shape 11"/>
          <p:cNvSpPr/>
          <p:nvPr/>
        </p:nvSpPr>
        <p:spPr>
          <a:xfrm>
            <a:off x="812800" y="4172843"/>
            <a:ext cx="10566400" cy="1585416"/>
          </a:xfrm>
          <a:prstGeom prst="roundRect">
            <a:avLst>
              <a:gd name="adj" fmla="val 6408"/>
            </a:avLst>
          </a:prstGeom>
          <a:solidFill>
            <a:srgbClr val="1D2A33"/>
          </a:solidFill>
          <a:ln/>
        </p:spPr>
      </p:sp>
      <p:sp>
        <p:nvSpPr>
          <p:cNvPr id="14" name="Text 12"/>
          <p:cNvSpPr/>
          <p:nvPr/>
        </p:nvSpPr>
        <p:spPr>
          <a:xfrm>
            <a:off x="1066800" y="4401443"/>
            <a:ext cx="1036015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C9A8"/>
                </a:solidFill>
                <a:latin typeface="IBM Plex Sans" pitchFamily="34" charset="0"/>
                <a:ea typeface="IBM Plex Sans" pitchFamily="34" charset="-122"/>
                <a:cs typeface="IBM Plex Sans" pitchFamily="34" charset="-120"/>
              </a:rPr>
              <a:t>Why matching this in Excel breaks down</a:t>
            </a:r>
            <a:endParaRPr lang="en-US" sz="1600" dirty="0"/>
          </a:p>
        </p:txBody>
      </p:sp>
      <p:sp>
        <p:nvSpPr>
          <p:cNvPr id="15" name="Text 13"/>
          <p:cNvSpPr/>
          <p:nvPr/>
        </p:nvSpPr>
        <p:spPr>
          <a:xfrm>
            <a:off x="1066800" y="4734123"/>
            <a:ext cx="5023104"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6F5F1"/>
                </a:solidFill>
                <a:latin typeface="IBM Plex Sans" pitchFamily="34" charset="0"/>
                <a:ea typeface="IBM Plex Sans" pitchFamily="34" charset="-122"/>
                <a:cs typeface="IBM Plex Sans" pitchFamily="34" charset="-120"/>
              </a:rPr>
              <a:t>The same line repeats in two monthly reports</a:t>
            </a:r>
            <a:endParaRPr lang="en-US" sz="1300" dirty="0"/>
          </a:p>
        </p:txBody>
      </p:sp>
      <p:sp>
        <p:nvSpPr>
          <p:cNvPr id="16" name="Text 14"/>
          <p:cNvSpPr/>
          <p:nvPr/>
        </p:nvSpPr>
        <p:spPr>
          <a:xfrm>
            <a:off x="6248400" y="4734123"/>
            <a:ext cx="5023104"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6F5F1"/>
                </a:solidFill>
                <a:latin typeface="IBM Plex Sans" pitchFamily="34" charset="0"/>
                <a:ea typeface="IBM Plex Sans" pitchFamily="34" charset="-122"/>
                <a:cs typeface="IBM Plex Sans" pitchFamily="34" charset="-120"/>
              </a:rPr>
              <a:t>Commission sign is opposite to SAP</a:t>
            </a:r>
            <a:endParaRPr lang="en-US" sz="1300" dirty="0"/>
          </a:p>
        </p:txBody>
      </p:sp>
      <p:sp>
        <p:nvSpPr>
          <p:cNvPr id="17" name="Text 15"/>
          <p:cNvSpPr/>
          <p:nvPr/>
        </p:nvSpPr>
        <p:spPr>
          <a:xfrm>
            <a:off x="1066800" y="5020469"/>
            <a:ext cx="5023104"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6F5F1"/>
                </a:solidFill>
                <a:latin typeface="IBM Plex Sans" pitchFamily="34" charset="0"/>
                <a:ea typeface="IBM Plex Sans" pitchFamily="34" charset="-122"/>
                <a:cs typeface="IBM Plex Sans" pitchFamily="34" charset="-120"/>
              </a:rPr>
              <a:t>One order has 2 to 4 lines across months</a:t>
            </a:r>
            <a:endParaRPr lang="en-US" sz="1300" dirty="0"/>
          </a:p>
        </p:txBody>
      </p:sp>
      <p:sp>
        <p:nvSpPr>
          <p:cNvPr id="18" name="Text 16"/>
          <p:cNvSpPr/>
          <p:nvPr/>
        </p:nvSpPr>
        <p:spPr>
          <a:xfrm>
            <a:off x="6248400" y="5020469"/>
            <a:ext cx="5023104"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6F5F1"/>
                </a:solidFill>
                <a:latin typeface="IBM Plex Sans" pitchFamily="34" charset="0"/>
                <a:ea typeface="IBM Plex Sans" pitchFamily="34" charset="-122"/>
                <a:cs typeface="IBM Plex Sans" pitchFamily="34" charset="-120"/>
              </a:rPr>
              <a:t>VLOOKUP on 94,000 lines is slow and doubles up matches</a:t>
            </a:r>
            <a:endParaRPr lang="en-US" sz="1300" dirty="0"/>
          </a:p>
        </p:txBody>
      </p:sp>
      <p:sp>
        <p:nvSpPr>
          <p:cNvPr id="19" name="Text 17"/>
          <p:cNvSpPr/>
          <p:nvPr/>
        </p:nvSpPr>
        <p:spPr>
          <a:xfrm>
            <a:off x="1066800" y="5306814"/>
            <a:ext cx="5023104"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6F5F1"/>
                </a:solidFill>
                <a:latin typeface="IBM Plex Sans" pitchFamily="34" charset="0"/>
                <a:ea typeface="IBM Plex Sans" pitchFamily="34" charset="-122"/>
                <a:cs typeface="IBM Plex Sans" pitchFamily="34" charset="-120"/>
              </a:rPr>
              <a:t>Keys differ: 16 characters in SAP, 17 in Veepee</a:t>
            </a:r>
            <a:endParaRPr lang="en-US" sz="1300" dirty="0"/>
          </a:p>
        </p:txBody>
      </p:sp>
      <p:sp>
        <p:nvSpPr>
          <p:cNvPr id="20" name="Text 18"/>
          <p:cNvSpPr/>
          <p:nvPr/>
        </p:nvSpPr>
        <p:spPr>
          <a:xfrm>
            <a:off x="6248400" y="5306814"/>
            <a:ext cx="5023104"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6F5F1"/>
                </a:solidFill>
                <a:latin typeface="IBM Plex Sans" pitchFamily="34" charset="0"/>
                <a:ea typeface="IBM Plex Sans" pitchFamily="34" charset="-122"/>
                <a:cs typeface="IBM Plex Sans" pitchFamily="34" charset="-120"/>
              </a:rPr>
              <a:t>“Open or settled” was typed in by hand</a:t>
            </a:r>
            <a:endParaRPr lang="en-US" sz="1300" dirty="0"/>
          </a:p>
        </p:txBody>
      </p:sp>
      <p:sp>
        <p:nvSpPr>
          <p:cNvPr id="21"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All files sit in SharePoint: VEEPEE/SYSTEMDOC, VEEPEE/SAP, VEEPEE/Remittance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21258"/>
          </a:xfrm>
          <a:prstGeom prst="rect">
            <a:avLst/>
          </a:prstGeom>
          <a:noFill/>
          <a:ln/>
        </p:spPr>
        <p:txBody>
          <a:bodyPr wrap="square" lIns="0" tIns="0" rIns="0" bIns="0" rtlCol="0" anchor="t">
            <a:normAutofit/>
          </a:bodyPr>
          <a:lstStyle/>
          <a:p>
            <a:pPr algn="l" indent="0" marL="0">
              <a:lnSpc>
                <a:spcPts val="1570"/>
              </a:lnSpc>
              <a:buNone/>
            </a:pPr>
            <a:r>
              <a:rPr lang="en-US" sz="1121" b="1" spc="100" kern="0" dirty="0">
                <a:solidFill>
                  <a:srgbClr val="2F6E99"/>
                </a:solidFill>
                <a:latin typeface="IBM Plex Sans" pitchFamily="34" charset="0"/>
                <a:ea typeface="IBM Plex Sans" pitchFamily="34" charset="-122"/>
                <a:cs typeface="IBM Plex Sans" pitchFamily="34" charset="-120"/>
              </a:rPr>
              <a:t>BUILDING XR AND XS FROM VEEPEE’S REPORT</a:t>
            </a:r>
            <a:endParaRPr lang="en-US" sz="1121" dirty="0"/>
          </a:p>
        </p:txBody>
      </p:sp>
      <p:sp>
        <p:nvSpPr>
          <p:cNvPr id="3" name="Text 1"/>
          <p:cNvSpPr/>
          <p:nvPr>
            <p:ph type="title"/>
          </p:nvPr>
        </p:nvSpPr>
        <p:spPr>
          <a:xfrm>
            <a:off x="812800" y="1211858"/>
            <a:ext cx="10883392" cy="435670"/>
          </a:xfrm>
          <a:prstGeom prst="rect">
            <a:avLst/>
          </a:prstGeom>
          <a:noFill/>
          <a:ln/>
        </p:spPr>
        <p:txBody>
          <a:bodyPr wrap="square" lIns="0" tIns="0" rIns="0" bIns="0" rtlCol="0" anchor="t">
            <a:normAutofit/>
          </a:bodyPr>
          <a:lstStyle/>
          <a:p>
            <a:pPr algn="l" indent="0" marL="0">
              <a:lnSpc>
                <a:spcPts val="3267"/>
              </a:lnSpc>
              <a:buNone/>
            </a:pPr>
            <a:r>
              <a:rPr lang="en-US" sz="2970" b="1" i="0" dirty="0">
                <a:solidFill>
                  <a:srgbClr val="1D2A33"/>
                </a:solidFill>
                <a:latin typeface="Source Serif 4" pitchFamily="18" charset="0"/>
                <a:ea typeface="Source Serif 4" pitchFamily="18" charset="-122"/>
                <a:cs typeface="Source Serif 4" pitchFamily="18" charset="-120"/>
              </a:rPr>
              <a:t>Two columns we add turn Veepee’s layout into SAP’s</a:t>
            </a:r>
            <a:endParaRPr lang="en-US" sz="297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38027"/>
          <a:ext cx="10553700" cy="2571948"/>
        </p:xfrm>
        <a:graphic>
          <a:graphicData uri="http://schemas.openxmlformats.org/drawingml/2006/table">
            <a:tbl>
              <a:tblPr/>
              <a:tblGrid>
                <a:gridCol w="1899666"/>
                <a:gridCol w="1688592"/>
                <a:gridCol w="1688592"/>
                <a:gridCol w="5276850"/>
              </a:tblGrid>
              <a:tr h="689471">
                <a:tc>
                  <a:txBody>
                    <a:bodyPr/>
                    <a:lstStyle/>
                    <a:p>
                      <a:pPr indent="0" marL="0">
                        <a:lnSpc>
                          <a:spcPts val="1723"/>
                        </a:lnSpc>
                        <a:buNone/>
                      </a:pPr>
                      <a:r>
                        <a:rPr lang="en-US" sz="1231" b="1" dirty="0">
                          <a:solidFill>
                            <a:srgbClr val="F6F5F1"/>
                          </a:solidFill>
                          <a:latin typeface="IBM Plex Sans" pitchFamily="34" charset="0"/>
                          <a:ea typeface="IBM Plex Sans" pitchFamily="34" charset="-122"/>
                          <a:cs typeface="IBM Plex Sans" pitchFamily="34" charset="-120"/>
                        </a:rPr>
                        <a:t>Veepee sheet</a:t>
                      </a:r>
                      <a:endParaRPr lang="en-US" sz="1231" dirty="0">
                        <a:latin typeface="IBM Plex Sans" charset="0"/>
                        <a:ea typeface="IBM Plex Sans" charset="0"/>
                        <a:cs typeface="IBM Plex Sans" charset="0"/>
                      </a:endParaRPr>
                    </a:p>
                  </a:txBody>
                  <a:tcPr marL="114300" marR="114300" marT="88900" marB="88900" anchor="t">
                    <a:lnL w="12700" cap="flat" cmpd="sng" algn="ctr">
                      <a:solidFill>
                        <a:srgbClr val="CBCBCB"/>
                      </a:solidFill>
                      <a:prstDash val="solid"/>
                      <a:round/>
                      <a:headEnd type="none" w="med" len="med"/>
                      <a:tailEnd type="none" w="med" len="med"/>
                    </a:lnL>
                    <a:lnR w="12700" cap="flat" cmpd="sng" algn="ctr">
                      <a:solidFill>
                        <a:srgbClr val="1B252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52C"/>
                      </a:solidFill>
                      <a:prstDash val="solid"/>
                      <a:round/>
                      <a:headEnd type="none" w="med" len="med"/>
                      <a:tailEnd type="none" w="med" len="med"/>
                    </a:lnB>
                    <a:solidFill>
                      <a:srgbClr val="1D2A33"/>
                    </a:solidFill>
                  </a:tcPr>
                </a:tc>
                <a:tc>
                  <a:txBody>
                    <a:bodyPr/>
                    <a:lstStyle/>
                    <a:p>
                      <a:pPr indent="0" marL="0">
                        <a:lnSpc>
                          <a:spcPts val="1723"/>
                        </a:lnSpc>
                        <a:buNone/>
                      </a:pPr>
                      <a:r>
                        <a:rPr lang="en-US" sz="1231" b="1" dirty="0">
                          <a:solidFill>
                            <a:srgbClr val="F6F5F1"/>
                          </a:solidFill>
                          <a:latin typeface="IBM Plex Sans" pitchFamily="34" charset="0"/>
                          <a:ea typeface="IBM Plex Sans" pitchFamily="34" charset="-122"/>
                          <a:cs typeface="IBM Plex Sans" pitchFamily="34" charset="-120"/>
                        </a:rPr>
                        <a:t>SAP Document Type</a:t>
                      </a:r>
                      <a:endParaRPr lang="en-US" sz="1231" dirty="0">
                        <a:latin typeface="IBM Plex Sans" charset="0"/>
                        <a:ea typeface="IBM Plex Sans" charset="0"/>
                        <a:cs typeface="IBM Plex Sans" charset="0"/>
                      </a:endParaRPr>
                    </a:p>
                  </a:txBody>
                  <a:tcPr marL="114300" marR="114300" marT="88900" marB="88900" anchor="t">
                    <a:lnL w="12700" cap="flat" cmpd="sng" algn="ctr">
                      <a:solidFill>
                        <a:srgbClr val="1B252C"/>
                      </a:solidFill>
                      <a:prstDash val="solid"/>
                      <a:round/>
                      <a:headEnd type="none" w="med" len="med"/>
                      <a:tailEnd type="none" w="med" len="med"/>
                    </a:lnL>
                    <a:lnR w="12700" cap="flat" cmpd="sng" algn="ctr">
                      <a:solidFill>
                        <a:srgbClr val="1B252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52C"/>
                      </a:solidFill>
                      <a:prstDash val="solid"/>
                      <a:round/>
                      <a:headEnd type="none" w="med" len="med"/>
                      <a:tailEnd type="none" w="med" len="med"/>
                    </a:lnB>
                    <a:solidFill>
                      <a:srgbClr val="1D2A33"/>
                    </a:solidFill>
                  </a:tcPr>
                </a:tc>
                <a:tc>
                  <a:txBody>
                    <a:bodyPr/>
                    <a:lstStyle/>
                    <a:p>
                      <a:pPr indent="0" marL="0">
                        <a:lnSpc>
                          <a:spcPts val="1723"/>
                        </a:lnSpc>
                        <a:buNone/>
                      </a:pPr>
                      <a:r>
                        <a:rPr lang="en-US" sz="1231" b="1" dirty="0">
                          <a:solidFill>
                            <a:srgbClr val="F6F5F1"/>
                          </a:solidFill>
                          <a:latin typeface="IBM Plex Sans" pitchFamily="34" charset="0"/>
                          <a:ea typeface="IBM Plex Sans" pitchFamily="34" charset="-122"/>
                          <a:cs typeface="IBM Plex Sans" pitchFamily="34" charset="-120"/>
                        </a:rPr>
                        <a:t>G/L Account</a:t>
                      </a:r>
                      <a:endParaRPr lang="en-US" sz="1231" dirty="0">
                        <a:latin typeface="IBM Plex Sans" charset="0"/>
                        <a:ea typeface="IBM Plex Sans" charset="0"/>
                        <a:cs typeface="IBM Plex Sans" charset="0"/>
                      </a:endParaRPr>
                    </a:p>
                  </a:txBody>
                  <a:tcPr marL="114300" marR="114300" marT="88900" marB="88900" anchor="t">
                    <a:lnL w="12700" cap="flat" cmpd="sng" algn="ctr">
                      <a:solidFill>
                        <a:srgbClr val="1B252C"/>
                      </a:solidFill>
                      <a:prstDash val="solid"/>
                      <a:round/>
                      <a:headEnd type="none" w="med" len="med"/>
                      <a:tailEnd type="none" w="med" len="med"/>
                    </a:lnL>
                    <a:lnR w="12700" cap="flat" cmpd="sng" algn="ctr">
                      <a:solidFill>
                        <a:srgbClr val="1B252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52C"/>
                      </a:solidFill>
                      <a:prstDash val="solid"/>
                      <a:round/>
                      <a:headEnd type="none" w="med" len="med"/>
                      <a:tailEnd type="none" w="med" len="med"/>
                    </a:lnB>
                    <a:solidFill>
                      <a:srgbClr val="1D2A33"/>
                    </a:solidFill>
                  </a:tcPr>
                </a:tc>
                <a:tc>
                  <a:txBody>
                    <a:bodyPr/>
                    <a:lstStyle/>
                    <a:p>
                      <a:pPr indent="0" marL="0">
                        <a:lnSpc>
                          <a:spcPts val="1723"/>
                        </a:lnSpc>
                        <a:buNone/>
                      </a:pPr>
                      <a:r>
                        <a:rPr lang="en-US" sz="1231" b="1" dirty="0">
                          <a:solidFill>
                            <a:srgbClr val="F6F5F1"/>
                          </a:solidFill>
                          <a:latin typeface="IBM Plex Sans" pitchFamily="34" charset="0"/>
                          <a:ea typeface="IBM Plex Sans" pitchFamily="34" charset="-122"/>
                          <a:cs typeface="IBM Plex Sans" pitchFamily="34" charset="-120"/>
                        </a:rPr>
                        <a:t>Amount taken from Veepee columns</a:t>
                      </a:r>
                      <a:endParaRPr lang="en-US" sz="1231" dirty="0">
                        <a:latin typeface="IBM Plex Sans" charset="0"/>
                        <a:ea typeface="IBM Plex Sans" charset="0"/>
                        <a:cs typeface="IBM Plex Sans" charset="0"/>
                      </a:endParaRPr>
                    </a:p>
                  </a:txBody>
                  <a:tcPr marL="114300" marR="114300" marT="88900" marB="88900" anchor="t">
                    <a:lnL w="12700" cap="flat" cmpd="sng" algn="ctr">
                      <a:solidFill>
                        <a:srgbClr val="1B252C"/>
                      </a:solidFill>
                      <a:prstDash val="solid"/>
                      <a:round/>
                      <a:headEnd type="none" w="med" len="med"/>
                      <a:tailEnd type="none" w="med" len="med"/>
                    </a:lnL>
                    <a:lnR w="12700" cap="flat" cmpd="sng" algn="ctr">
                      <a:solidFill>
                        <a:srgbClr val="1B252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B252C"/>
                      </a:solidFill>
                      <a:prstDash val="solid"/>
                      <a:round/>
                      <a:headEnd type="none" w="med" len="med"/>
                      <a:tailEnd type="none" w="med" len="med"/>
                    </a:lnB>
                    <a:solidFill>
                      <a:srgbClr val="1D2A33"/>
                    </a:solidFill>
                  </a:tcPr>
                </a:tc>
              </a:tr>
              <a:tr h="470595">
                <a:tc>
                  <a:txBody>
                    <a:bodyPr/>
                    <a:lstStyle/>
                    <a:p>
                      <a:pPr indent="0" marL="0">
                        <a:lnSpc>
                          <a:spcPts val="1723"/>
                        </a:lnSpc>
                        <a:buNone/>
                      </a:pPr>
                      <a:r>
                        <a:rPr lang="en-US" sz="1231" dirty="0">
                          <a:solidFill>
                            <a:srgbClr val="1D2A33"/>
                          </a:solidFill>
                          <a:latin typeface="IBM Plex Sans" pitchFamily="34" charset="0"/>
                          <a:ea typeface="IBM Plex Sans" pitchFamily="34" charset="-122"/>
                          <a:cs typeface="IBM Plex Sans" pitchFamily="34" charset="-120"/>
                        </a:rPr>
                        <a:t>Facture (sale)</a:t>
                      </a:r>
                      <a:endParaRPr lang="en-US" sz="1231" dirty="0">
                        <a:latin typeface="IBM Plex Sans" charset="0"/>
                        <a:ea typeface="IBM Plex Sans" charset="0"/>
                        <a:cs typeface="IBM Plex Sans" charset="0"/>
                      </a:endParaRPr>
                    </a:p>
                  </a:txBody>
                  <a:tcPr marL="114300" marR="1143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52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23"/>
                        </a:lnSpc>
                        <a:buNone/>
                      </a:pPr>
                      <a:r>
                        <a:rPr lang="en-US" sz="1231" dirty="0">
                          <a:solidFill>
                            <a:srgbClr val="1D2A33"/>
                          </a:solidFill>
                          <a:latin typeface="IBM Plex Sans" pitchFamily="34" charset="0"/>
                          <a:ea typeface="IBM Plex Sans" pitchFamily="34" charset="-122"/>
                          <a:cs typeface="IBM Plex Sans" pitchFamily="34" charset="-120"/>
                        </a:rPr>
                        <a:t>XR</a:t>
                      </a:r>
                      <a:endParaRPr lang="en-US" sz="1231" dirty="0">
                        <a:latin typeface="IBM Plex Sans" charset="0"/>
                        <a:ea typeface="IBM Plex Sans" charset="0"/>
                        <a:cs typeface="IBM Plex Sans" charset="0"/>
                      </a:endParaRPr>
                    </a:p>
                  </a:txBody>
                  <a:tcPr marL="114300" marR="1143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52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23"/>
                        </a:lnSpc>
                        <a:buNone/>
                      </a:pPr>
                      <a:r>
                        <a:rPr lang="en-US" sz="1231" dirty="0">
                          <a:solidFill>
                            <a:srgbClr val="1D2A33"/>
                          </a:solidFill>
                          <a:latin typeface="IBM Plex Sans" pitchFamily="34" charset="0"/>
                          <a:ea typeface="IBM Plex Sans" pitchFamily="34" charset="-122"/>
                          <a:cs typeface="IBM Plex Sans" pitchFamily="34" charset="-120"/>
                        </a:rPr>
                        <a:t>248601 sales</a:t>
                      </a:r>
                      <a:endParaRPr lang="en-US" sz="1231" dirty="0">
                        <a:latin typeface="IBM Plex Sans" charset="0"/>
                        <a:ea typeface="IBM Plex Sans" charset="0"/>
                        <a:cs typeface="IBM Plex Sans" charset="0"/>
                      </a:endParaRPr>
                    </a:p>
                  </a:txBody>
                  <a:tcPr marL="114300" marR="1143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52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23"/>
                        </a:lnSpc>
                        <a:buNone/>
                      </a:pPr>
                      <a:r>
                        <a:rPr lang="en-US" sz="1231" dirty="0">
                          <a:solidFill>
                            <a:srgbClr val="1D2A33"/>
                          </a:solidFill>
                          <a:latin typeface="IBM Plex Sans" pitchFamily="34" charset="0"/>
                          <a:ea typeface="IBM Plex Sans" pitchFamily="34" charset="-122"/>
                          <a:cs typeface="IBM Plex Sans" pitchFamily="34" charset="-120"/>
                        </a:rPr>
                        <a:t>Montant CA HT + Montant FP HT</a:t>
                      </a:r>
                      <a:endParaRPr lang="en-US" sz="1231" dirty="0">
                        <a:latin typeface="IBM Plex Sans" charset="0"/>
                        <a:ea typeface="IBM Plex Sans" charset="0"/>
                        <a:cs typeface="IBM Plex Sans" charset="0"/>
                      </a:endParaRPr>
                    </a:p>
                  </a:txBody>
                  <a:tcPr marL="114300" marR="1143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B252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70595">
                <a:tc>
                  <a:txBody>
                    <a:bodyPr/>
                    <a:lstStyle/>
                    <a:p>
                      <a:pPr indent="0" marL="0">
                        <a:lnSpc>
                          <a:spcPts val="1723"/>
                        </a:lnSpc>
                        <a:buNone/>
                      </a:pPr>
                      <a:r>
                        <a:rPr lang="en-US" sz="1231" dirty="0">
                          <a:solidFill>
                            <a:srgbClr val="1D2A33"/>
                          </a:solidFill>
                          <a:latin typeface="IBM Plex Sans" pitchFamily="34" charset="0"/>
                          <a:ea typeface="IBM Plex Sans" pitchFamily="34" charset="-122"/>
                          <a:cs typeface="IBM Plex Sans" pitchFamily="34" charset="-120"/>
                        </a:rPr>
                        <a:t>Facture (sale)</a:t>
                      </a:r>
                      <a:endParaRPr lang="en-US" sz="1231" dirty="0">
                        <a:latin typeface="IBM Plex Sans" charset="0"/>
                        <a:ea typeface="IBM Plex Sans" charset="0"/>
                        <a:cs typeface="IBM Plex Sans" charset="0"/>
                      </a:endParaRPr>
                    </a:p>
                  </a:txBody>
                  <a:tcPr marL="114300" marR="114300" marT="88900" marB="88900" anchor="t">
                    <a:lnL w="12700" cap="flat" cmpd="sng" algn="ctr">
                      <a:solidFill>
                        <a:srgbClr val="CBCBCB"/>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tc>
                  <a:txBody>
                    <a:bodyPr/>
                    <a:lstStyle/>
                    <a:p>
                      <a:pPr indent="0" marL="0">
                        <a:lnSpc>
                          <a:spcPts val="1723"/>
                        </a:lnSpc>
                        <a:buNone/>
                      </a:pPr>
                      <a:r>
                        <a:rPr lang="en-US" sz="1231" dirty="0">
                          <a:solidFill>
                            <a:srgbClr val="1D2A33"/>
                          </a:solidFill>
                          <a:latin typeface="IBM Plex Sans" pitchFamily="34" charset="0"/>
                          <a:ea typeface="IBM Plex Sans" pitchFamily="34" charset="-122"/>
                          <a:cs typeface="IBM Plex Sans" pitchFamily="34" charset="-120"/>
                        </a:rPr>
                        <a:t>XR</a:t>
                      </a:r>
                      <a:endParaRPr lang="en-US" sz="1231" dirty="0">
                        <a:latin typeface="IBM Plex Sans" charset="0"/>
                        <a:ea typeface="IBM Plex Sans" charset="0"/>
                        <a:cs typeface="IBM Plex Sans" charset="0"/>
                      </a:endParaRPr>
                    </a:p>
                  </a:txBody>
                  <a:tcPr marL="114300" marR="114300" marT="88900" marB="889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tc>
                  <a:txBody>
                    <a:bodyPr/>
                    <a:lstStyle/>
                    <a:p>
                      <a:pPr indent="0" marL="0">
                        <a:lnSpc>
                          <a:spcPts val="1723"/>
                        </a:lnSpc>
                        <a:buNone/>
                      </a:pPr>
                      <a:r>
                        <a:rPr lang="en-US" sz="1231" dirty="0">
                          <a:solidFill>
                            <a:srgbClr val="1D2A33"/>
                          </a:solidFill>
                          <a:latin typeface="IBM Plex Sans" pitchFamily="34" charset="0"/>
                          <a:ea typeface="IBM Plex Sans" pitchFamily="34" charset="-122"/>
                          <a:cs typeface="IBM Plex Sans" pitchFamily="34" charset="-120"/>
                        </a:rPr>
                        <a:t>348919 commission</a:t>
                      </a:r>
                      <a:endParaRPr lang="en-US" sz="1231" dirty="0">
                        <a:latin typeface="IBM Plex Sans" charset="0"/>
                        <a:ea typeface="IBM Plex Sans" charset="0"/>
                        <a:cs typeface="IBM Plex Sans" charset="0"/>
                      </a:endParaRPr>
                    </a:p>
                  </a:txBody>
                  <a:tcPr marL="114300" marR="114300" marT="88900" marB="889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tc>
                  <a:txBody>
                    <a:bodyPr/>
                    <a:lstStyle/>
                    <a:p>
                      <a:pPr indent="0" marL="0">
                        <a:lnSpc>
                          <a:spcPts val="1723"/>
                        </a:lnSpc>
                        <a:buNone/>
                      </a:pPr>
                      <a:r>
                        <a:rPr lang="en-US" sz="1231" dirty="0">
                          <a:solidFill>
                            <a:srgbClr val="1D2A33"/>
                          </a:solidFill>
                          <a:latin typeface="IBM Plex Sans" pitchFamily="34" charset="0"/>
                          <a:ea typeface="IBM Plex Sans" pitchFamily="34" charset="-122"/>
                          <a:cs typeface="IBM Plex Sans" pitchFamily="34" charset="-120"/>
                        </a:rPr>
                        <a:t>Montant total Rem VP TTC × −1</a:t>
                      </a:r>
                      <a:endParaRPr lang="en-US" sz="1231" dirty="0">
                        <a:latin typeface="IBM Plex Sans" charset="0"/>
                        <a:ea typeface="IBM Plex Sans" charset="0"/>
                        <a:cs typeface="IBM Plex Sans" charset="0"/>
                      </a:endParaRPr>
                    </a:p>
                  </a:txBody>
                  <a:tcPr marL="114300" marR="114300" marT="88900" marB="889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tr>
              <a:tr h="470595">
                <a:tc>
                  <a:txBody>
                    <a:bodyPr/>
                    <a:lstStyle/>
                    <a:p>
                      <a:pPr indent="0" marL="0">
                        <a:lnSpc>
                          <a:spcPts val="1723"/>
                        </a:lnSpc>
                        <a:buNone/>
                      </a:pPr>
                      <a:r>
                        <a:rPr lang="en-US" sz="1231" dirty="0">
                          <a:solidFill>
                            <a:srgbClr val="1D2A33"/>
                          </a:solidFill>
                          <a:latin typeface="IBM Plex Sans" pitchFamily="34" charset="0"/>
                          <a:ea typeface="IBM Plex Sans" pitchFamily="34" charset="-122"/>
                          <a:cs typeface="IBM Plex Sans" pitchFamily="34" charset="-120"/>
                        </a:rPr>
                        <a:t>Avoir (refund)</a:t>
                      </a:r>
                      <a:endParaRPr lang="en-US" sz="1231" dirty="0">
                        <a:latin typeface="IBM Plex Sans" charset="0"/>
                        <a:ea typeface="IBM Plex Sans" charset="0"/>
                        <a:cs typeface="IBM Plex Sans" charset="0"/>
                      </a:endParaRPr>
                    </a:p>
                  </a:txBody>
                  <a:tcPr marL="114300" marR="1143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23"/>
                        </a:lnSpc>
                        <a:buNone/>
                      </a:pPr>
                      <a:r>
                        <a:rPr lang="en-US" sz="1231" dirty="0">
                          <a:solidFill>
                            <a:srgbClr val="1D2A33"/>
                          </a:solidFill>
                          <a:latin typeface="IBM Plex Sans" pitchFamily="34" charset="0"/>
                          <a:ea typeface="IBM Plex Sans" pitchFamily="34" charset="-122"/>
                          <a:cs typeface="IBM Plex Sans" pitchFamily="34" charset="-120"/>
                        </a:rPr>
                        <a:t>XS</a:t>
                      </a:r>
                      <a:endParaRPr lang="en-US" sz="1231" dirty="0">
                        <a:latin typeface="IBM Plex Sans" charset="0"/>
                        <a:ea typeface="IBM Plex Sans" charset="0"/>
                        <a:cs typeface="IBM Plex Sans" charset="0"/>
                      </a:endParaRPr>
                    </a:p>
                  </a:txBody>
                  <a:tcPr marL="114300" marR="1143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23"/>
                        </a:lnSpc>
                        <a:buNone/>
                      </a:pPr>
                      <a:r>
                        <a:rPr lang="en-US" sz="1231" dirty="0">
                          <a:solidFill>
                            <a:srgbClr val="1D2A33"/>
                          </a:solidFill>
                          <a:latin typeface="IBM Plex Sans" pitchFamily="34" charset="0"/>
                          <a:ea typeface="IBM Plex Sans" pitchFamily="34" charset="-122"/>
                          <a:cs typeface="IBM Plex Sans" pitchFamily="34" charset="-120"/>
                        </a:rPr>
                        <a:t>248601 sales</a:t>
                      </a:r>
                      <a:endParaRPr lang="en-US" sz="1231" dirty="0">
                        <a:latin typeface="IBM Plex Sans" charset="0"/>
                        <a:ea typeface="IBM Plex Sans" charset="0"/>
                        <a:cs typeface="IBM Plex Sans" charset="0"/>
                      </a:endParaRPr>
                    </a:p>
                  </a:txBody>
                  <a:tcPr marL="114300" marR="1143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23"/>
                        </a:lnSpc>
                        <a:buNone/>
                      </a:pPr>
                      <a:r>
                        <a:rPr lang="en-US" sz="1231" dirty="0">
                          <a:solidFill>
                            <a:srgbClr val="1D2A33"/>
                          </a:solidFill>
                          <a:latin typeface="IBM Plex Sans" pitchFamily="34" charset="0"/>
                          <a:ea typeface="IBM Plex Sans" pitchFamily="34" charset="-122"/>
                          <a:cs typeface="IBM Plex Sans" pitchFamily="34" charset="-120"/>
                        </a:rPr>
                        <a:t>Montant CA HT remboursé + Montant FP HT remboursé</a:t>
                      </a:r>
                      <a:endParaRPr lang="en-US" sz="1231" dirty="0">
                        <a:latin typeface="IBM Plex Sans" charset="0"/>
                        <a:ea typeface="IBM Plex Sans" charset="0"/>
                        <a:cs typeface="IBM Plex Sans" charset="0"/>
                      </a:endParaRPr>
                    </a:p>
                  </a:txBody>
                  <a:tcPr marL="114300" marR="1143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70694">
                <a:tc>
                  <a:txBody>
                    <a:bodyPr/>
                    <a:lstStyle/>
                    <a:p>
                      <a:pPr indent="0" marL="0">
                        <a:lnSpc>
                          <a:spcPts val="1723"/>
                        </a:lnSpc>
                        <a:buNone/>
                      </a:pPr>
                      <a:r>
                        <a:rPr lang="en-US" sz="1231" dirty="0">
                          <a:solidFill>
                            <a:srgbClr val="1D2A33"/>
                          </a:solidFill>
                          <a:latin typeface="IBM Plex Sans" pitchFamily="34" charset="0"/>
                          <a:ea typeface="IBM Plex Sans" pitchFamily="34" charset="-122"/>
                          <a:cs typeface="IBM Plex Sans" pitchFamily="34" charset="-120"/>
                        </a:rPr>
                        <a:t>Avoir (refund)</a:t>
                      </a:r>
                      <a:endParaRPr lang="en-US" sz="1231" dirty="0">
                        <a:latin typeface="IBM Plex Sans" charset="0"/>
                        <a:ea typeface="IBM Plex Sans" charset="0"/>
                        <a:cs typeface="IBM Plex Sans" charset="0"/>
                      </a:endParaRPr>
                    </a:p>
                  </a:txBody>
                  <a:tcPr marL="114300" marR="114300" marT="88900" marB="88900" anchor="t">
                    <a:lnL w="12700" cap="flat" cmpd="sng" algn="ctr">
                      <a:solidFill>
                        <a:srgbClr val="CBCBCB"/>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tc>
                  <a:txBody>
                    <a:bodyPr/>
                    <a:lstStyle/>
                    <a:p>
                      <a:pPr indent="0" marL="0">
                        <a:lnSpc>
                          <a:spcPts val="1723"/>
                        </a:lnSpc>
                        <a:buNone/>
                      </a:pPr>
                      <a:r>
                        <a:rPr lang="en-US" sz="1231" dirty="0">
                          <a:solidFill>
                            <a:srgbClr val="1D2A33"/>
                          </a:solidFill>
                          <a:latin typeface="IBM Plex Sans" pitchFamily="34" charset="0"/>
                          <a:ea typeface="IBM Plex Sans" pitchFamily="34" charset="-122"/>
                          <a:cs typeface="IBM Plex Sans" pitchFamily="34" charset="-120"/>
                        </a:rPr>
                        <a:t>XS</a:t>
                      </a:r>
                      <a:endParaRPr lang="en-US" sz="1231" dirty="0">
                        <a:latin typeface="IBM Plex Sans" charset="0"/>
                        <a:ea typeface="IBM Plex Sans" charset="0"/>
                        <a:cs typeface="IBM Plex Sans" charset="0"/>
                      </a:endParaRPr>
                    </a:p>
                  </a:txBody>
                  <a:tcPr marL="114300" marR="114300" marT="88900" marB="889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tc>
                  <a:txBody>
                    <a:bodyPr/>
                    <a:lstStyle/>
                    <a:p>
                      <a:pPr indent="0" marL="0">
                        <a:lnSpc>
                          <a:spcPts val="1723"/>
                        </a:lnSpc>
                        <a:buNone/>
                      </a:pPr>
                      <a:r>
                        <a:rPr lang="en-US" sz="1231" dirty="0">
                          <a:solidFill>
                            <a:srgbClr val="1D2A33"/>
                          </a:solidFill>
                          <a:latin typeface="IBM Plex Sans" pitchFamily="34" charset="0"/>
                          <a:ea typeface="IBM Plex Sans" pitchFamily="34" charset="-122"/>
                          <a:cs typeface="IBM Plex Sans" pitchFamily="34" charset="-120"/>
                        </a:rPr>
                        <a:t>348919 commission</a:t>
                      </a:r>
                      <a:endParaRPr lang="en-US" sz="1231" dirty="0">
                        <a:latin typeface="IBM Plex Sans" charset="0"/>
                        <a:ea typeface="IBM Plex Sans" charset="0"/>
                        <a:cs typeface="IBM Plex Sans" charset="0"/>
                      </a:endParaRPr>
                    </a:p>
                  </a:txBody>
                  <a:tcPr marL="114300" marR="114300" marT="88900" marB="889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tc>
                  <a:txBody>
                    <a:bodyPr/>
                    <a:lstStyle/>
                    <a:p>
                      <a:pPr indent="0" marL="0">
                        <a:lnSpc>
                          <a:spcPts val="1723"/>
                        </a:lnSpc>
                        <a:buNone/>
                      </a:pPr>
                      <a:r>
                        <a:rPr lang="en-US" sz="1231" dirty="0">
                          <a:solidFill>
                            <a:srgbClr val="1D2A33"/>
                          </a:solidFill>
                          <a:latin typeface="IBM Plex Sans" pitchFamily="34" charset="0"/>
                          <a:ea typeface="IBM Plex Sans" pitchFamily="34" charset="-122"/>
                          <a:cs typeface="IBM Plex Sans" pitchFamily="34" charset="-120"/>
                        </a:rPr>
                        <a:t>Montant total Rem VP TTC facture × −1</a:t>
                      </a:r>
                      <a:endParaRPr lang="en-US" sz="1231" dirty="0">
                        <a:latin typeface="IBM Plex Sans" charset="0"/>
                        <a:ea typeface="IBM Plex Sans" charset="0"/>
                        <a:cs typeface="IBM Plex Sans" charset="0"/>
                      </a:endParaRPr>
                    </a:p>
                  </a:txBody>
                  <a:tcPr marL="114300" marR="114300" marT="88900" marB="889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tr>
            </a:tbl>
          </a:graphicData>
        </a:graphic>
      </p:graphicFrame>
      <p:sp>
        <p:nvSpPr>
          <p:cNvPr id="5" name="Shape 2"/>
          <p:cNvSpPr/>
          <p:nvPr/>
        </p:nvSpPr>
        <p:spPr>
          <a:xfrm>
            <a:off x="812800" y="4613176"/>
            <a:ext cx="3403600" cy="1228824"/>
          </a:xfrm>
          <a:prstGeom prst="roundRect">
            <a:avLst>
              <a:gd name="adj" fmla="val 8268"/>
            </a:avLst>
          </a:prstGeom>
          <a:solidFill>
            <a:srgbClr val="EEF3F7"/>
          </a:solidFill>
          <a:ln/>
        </p:spPr>
      </p:sp>
      <p:sp>
        <p:nvSpPr>
          <p:cNvPr id="6" name="Text 3"/>
          <p:cNvSpPr/>
          <p:nvPr/>
        </p:nvSpPr>
        <p:spPr>
          <a:xfrm>
            <a:off x="1016000" y="4816376"/>
            <a:ext cx="3087116" cy="225127"/>
          </a:xfrm>
          <a:prstGeom prst="rect">
            <a:avLst/>
          </a:prstGeom>
          <a:noFill/>
          <a:ln/>
        </p:spPr>
        <p:txBody>
          <a:bodyPr wrap="square" lIns="0" tIns="0" rIns="0" bIns="0" rtlCol="0" anchor="t">
            <a:normAutofit/>
          </a:bodyPr>
          <a:lstStyle/>
          <a:p>
            <a:pPr algn="l" indent="0" marL="0">
              <a:lnSpc>
                <a:spcPts val="1569"/>
              </a:lnSpc>
              <a:buNone/>
            </a:pPr>
            <a:r>
              <a:rPr lang="en-US" sz="1308" b="1" dirty="0">
                <a:solidFill>
                  <a:srgbClr val="1D2A33"/>
                </a:solidFill>
                <a:latin typeface="IBM Plex Sans" pitchFamily="34" charset="0"/>
                <a:ea typeface="IBM Plex Sans" pitchFamily="34" charset="-122"/>
                <a:cs typeface="IBM Plex Sans" pitchFamily="34" charset="-120"/>
              </a:rPr>
              <a:t>One row becomes two</a:t>
            </a:r>
            <a:endParaRPr lang="en-US" sz="1308" dirty="0"/>
          </a:p>
        </p:txBody>
      </p:sp>
      <p:sp>
        <p:nvSpPr>
          <p:cNvPr id="7" name="Text 4"/>
          <p:cNvSpPr/>
          <p:nvPr/>
        </p:nvSpPr>
        <p:spPr>
          <a:xfrm>
            <a:off x="1016000" y="5079603"/>
            <a:ext cx="3087116" cy="584597"/>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3E4A52"/>
                </a:solidFill>
                <a:latin typeface="IBM Plex Sans" pitchFamily="34" charset="0"/>
                <a:ea typeface="IBM Plex Sans" pitchFamily="34" charset="-122"/>
                <a:cs typeface="IBM Plex Sans" pitchFamily="34" charset="-120"/>
              </a:rPr>
              <a:t>Each Veepee line is split into a sales row and a commission row, so it lines up with SAP’s two GLs.</a:t>
            </a:r>
            <a:endParaRPr lang="en-US" sz="1050" dirty="0"/>
          </a:p>
        </p:txBody>
      </p:sp>
      <p:sp>
        <p:nvSpPr>
          <p:cNvPr id="8" name="Shape 5"/>
          <p:cNvSpPr/>
          <p:nvPr/>
        </p:nvSpPr>
        <p:spPr>
          <a:xfrm>
            <a:off x="4394200" y="4613176"/>
            <a:ext cx="3403600" cy="1228824"/>
          </a:xfrm>
          <a:prstGeom prst="roundRect">
            <a:avLst>
              <a:gd name="adj" fmla="val 8268"/>
            </a:avLst>
          </a:prstGeom>
          <a:solidFill>
            <a:srgbClr val="EEF3F7"/>
          </a:solidFill>
          <a:ln/>
        </p:spPr>
      </p:sp>
      <p:sp>
        <p:nvSpPr>
          <p:cNvPr id="9" name="Text 6"/>
          <p:cNvSpPr/>
          <p:nvPr/>
        </p:nvSpPr>
        <p:spPr>
          <a:xfrm>
            <a:off x="4597400" y="4816376"/>
            <a:ext cx="3087116" cy="225127"/>
          </a:xfrm>
          <a:prstGeom prst="rect">
            <a:avLst/>
          </a:prstGeom>
          <a:noFill/>
          <a:ln/>
        </p:spPr>
        <p:txBody>
          <a:bodyPr wrap="square" lIns="0" tIns="0" rIns="0" bIns="0" rtlCol="0" anchor="t">
            <a:normAutofit/>
          </a:bodyPr>
          <a:lstStyle/>
          <a:p>
            <a:pPr algn="l" indent="0" marL="0">
              <a:lnSpc>
                <a:spcPts val="1569"/>
              </a:lnSpc>
              <a:buNone/>
            </a:pPr>
            <a:r>
              <a:rPr lang="en-US" sz="1308" b="1" dirty="0">
                <a:solidFill>
                  <a:srgbClr val="1D2A33"/>
                </a:solidFill>
                <a:latin typeface="IBM Plex Sans" pitchFamily="34" charset="0"/>
                <a:ea typeface="IBM Plex Sans" pitchFamily="34" charset="-122"/>
                <a:cs typeface="IBM Plex Sans" pitchFamily="34" charset="-120"/>
              </a:rPr>
              <a:t>Commission flipped</a:t>
            </a:r>
            <a:endParaRPr lang="en-US" sz="1308" dirty="0"/>
          </a:p>
        </p:txBody>
      </p:sp>
      <p:sp>
        <p:nvSpPr>
          <p:cNvPr id="10" name="Text 7"/>
          <p:cNvSpPr/>
          <p:nvPr/>
        </p:nvSpPr>
        <p:spPr>
          <a:xfrm>
            <a:off x="4597400" y="5079603"/>
            <a:ext cx="3087116" cy="584597"/>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3E4A52"/>
                </a:solidFill>
                <a:latin typeface="IBM Plex Sans" pitchFamily="34" charset="0"/>
                <a:ea typeface="IBM Plex Sans" pitchFamily="34" charset="-122"/>
                <a:cs typeface="IBM Plex Sans" pitchFamily="34" charset="-120"/>
              </a:rPr>
              <a:t>Veepee shows commission as positive; SAP posts it as a cost. Multiplying by −1 puts both on SAP’s sign.</a:t>
            </a:r>
            <a:endParaRPr lang="en-US" sz="1050" dirty="0"/>
          </a:p>
        </p:txBody>
      </p:sp>
      <p:sp>
        <p:nvSpPr>
          <p:cNvPr id="11" name="Shape 8"/>
          <p:cNvSpPr/>
          <p:nvPr/>
        </p:nvSpPr>
        <p:spPr>
          <a:xfrm>
            <a:off x="7975600" y="4613176"/>
            <a:ext cx="3403600" cy="1228824"/>
          </a:xfrm>
          <a:prstGeom prst="roundRect">
            <a:avLst>
              <a:gd name="adj" fmla="val 8268"/>
            </a:avLst>
          </a:prstGeom>
          <a:solidFill>
            <a:srgbClr val="EEF3F7"/>
          </a:solidFill>
          <a:ln/>
        </p:spPr>
      </p:sp>
      <p:sp>
        <p:nvSpPr>
          <p:cNvPr id="12" name="Text 9"/>
          <p:cNvSpPr/>
          <p:nvPr/>
        </p:nvSpPr>
        <p:spPr>
          <a:xfrm>
            <a:off x="8178800" y="4816376"/>
            <a:ext cx="308711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2A33"/>
                </a:solidFill>
                <a:latin typeface="IBM Plex Sans" pitchFamily="34" charset="0"/>
                <a:ea typeface="IBM Plex Sans" pitchFamily="34" charset="-122"/>
                <a:cs typeface="IBM Plex Sans" pitchFamily="34" charset="-120"/>
              </a:rPr>
              <a:t>One matching key</a:t>
            </a:r>
            <a:endParaRPr lang="en-US" sz="1500" dirty="0"/>
          </a:p>
        </p:txBody>
      </p:sp>
      <p:sp>
        <p:nvSpPr>
          <p:cNvPr id="13" name="Text 10"/>
          <p:cNvSpPr/>
          <p:nvPr/>
        </p:nvSpPr>
        <p:spPr>
          <a:xfrm>
            <a:off x="8178800" y="5108476"/>
            <a:ext cx="308711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2"/>
                </a:solidFill>
                <a:latin typeface="IBM Plex Sans" pitchFamily="34" charset="0"/>
                <a:ea typeface="IBM Plex Sans" pitchFamily="34" charset="-122"/>
                <a:cs typeface="IBM Plex Sans" pitchFamily="34" charset="-120"/>
              </a:rPr>
              <a:t>Order + doc type + GL. Example: 260811-ZFQ4LLDBG1 · XR · 248601 = €705.75</a:t>
            </a:r>
            <a:endParaRPr lang="en-US" sz="1200" dirty="0"/>
          </a:p>
        </p:txBody>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SAP side: Reference + “1” + doc type + GL, which restores the 17th character of the order number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E99"/>
                </a:solidFill>
                <a:latin typeface="IBM Plex Sans" pitchFamily="34" charset="0"/>
                <a:ea typeface="IBM Plex Sans" pitchFamily="34" charset="-122"/>
                <a:cs typeface="IBM Plex Sans" pitchFamily="34" charset="-120"/>
              </a:rPr>
              <a:t>THE SOLUTION: FROM EXCEL TO POWER BI</a:t>
            </a:r>
            <a:endParaRPr lang="en-US" sz="1200" dirty="0"/>
          </a:p>
        </p:txBody>
      </p:sp>
      <p:sp>
        <p:nvSpPr>
          <p:cNvPr id="3" name="Text 1"/>
          <p:cNvSpPr/>
          <p:nvPr>
            <p:ph type="title"/>
          </p:nvPr>
        </p:nvSpPr>
        <p:spPr>
          <a:xfrm>
            <a:off x="812800" y="12547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D2A33"/>
                </a:solidFill>
                <a:latin typeface="Source Serif 4" pitchFamily="18" charset="0"/>
                <a:ea typeface="Source Serif 4" pitchFamily="18" charset="-122"/>
                <a:cs typeface="Source Serif 4" pitchFamily="18" charset="-120"/>
              </a:rPr>
              <a:t>Drop the files in SharePoint, press Refresh, and the rec builds itself</a:t>
            </a:r>
            <a:endParaRPr lang="en-US" sz="3200" dirty="0"/>
          </a:p>
        </p:txBody>
      </p:sp>
      <p:sp>
        <p:nvSpPr>
          <p:cNvPr id="4" name="Shape 2"/>
          <p:cNvSpPr/>
          <p:nvPr/>
        </p:nvSpPr>
        <p:spPr>
          <a:xfrm>
            <a:off x="812800" y="2377281"/>
            <a:ext cx="3420467" cy="1046361"/>
          </a:xfrm>
          <a:prstGeom prst="roundRect">
            <a:avLst>
              <a:gd name="adj" fmla="val 9710"/>
            </a:avLst>
          </a:prstGeom>
          <a:solidFill>
            <a:srgbClr val="FFFFFF"/>
          </a:solidFill>
          <a:ln/>
        </p:spPr>
      </p:sp>
      <p:sp>
        <p:nvSpPr>
          <p:cNvPr id="5" name="Text 3"/>
          <p:cNvSpPr/>
          <p:nvPr/>
        </p:nvSpPr>
        <p:spPr>
          <a:xfrm>
            <a:off x="990600" y="2555081"/>
            <a:ext cx="315681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E99"/>
                </a:solidFill>
                <a:latin typeface="IBM Plex Sans" pitchFamily="34" charset="0"/>
                <a:ea typeface="IBM Plex Sans" pitchFamily="34" charset="-122"/>
                <a:cs typeface="IBM Plex Sans" pitchFamily="34" charset="-120"/>
              </a:rPr>
              <a:t>1 · Combine</a:t>
            </a:r>
            <a:endParaRPr lang="en-US" sz="1200" dirty="0"/>
          </a:p>
        </p:txBody>
      </p:sp>
      <p:sp>
        <p:nvSpPr>
          <p:cNvPr id="6" name="Text 4"/>
          <p:cNvSpPr/>
          <p:nvPr/>
        </p:nvSpPr>
        <p:spPr>
          <a:xfrm>
            <a:off x="990600" y="2819202"/>
            <a:ext cx="315681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A33"/>
                </a:solidFill>
                <a:latin typeface="IBM Plex Sans" pitchFamily="34" charset="0"/>
                <a:ea typeface="IBM Plex Sans" pitchFamily="34" charset="-122"/>
                <a:cs typeface="IBM Plex Sans" pitchFamily="34" charset="-120"/>
              </a:rPr>
              <a:t>Power Query reads every file in the three SharePoint folders. No copy and paste.</a:t>
            </a:r>
            <a:endParaRPr lang="en-US" sz="1200" dirty="0"/>
          </a:p>
        </p:txBody>
      </p:sp>
      <p:sp>
        <p:nvSpPr>
          <p:cNvPr id="7" name="Shape 5"/>
          <p:cNvSpPr/>
          <p:nvPr/>
        </p:nvSpPr>
        <p:spPr>
          <a:xfrm>
            <a:off x="4385667" y="2377281"/>
            <a:ext cx="3420566" cy="1046361"/>
          </a:xfrm>
          <a:prstGeom prst="roundRect">
            <a:avLst>
              <a:gd name="adj" fmla="val 9710"/>
            </a:avLst>
          </a:prstGeom>
          <a:solidFill>
            <a:srgbClr val="FFFFFF"/>
          </a:solidFill>
          <a:ln/>
        </p:spPr>
      </p:sp>
      <p:sp>
        <p:nvSpPr>
          <p:cNvPr id="8" name="Text 6"/>
          <p:cNvSpPr/>
          <p:nvPr/>
        </p:nvSpPr>
        <p:spPr>
          <a:xfrm>
            <a:off x="4563467" y="2555081"/>
            <a:ext cx="315691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E99"/>
                </a:solidFill>
                <a:latin typeface="IBM Plex Sans" pitchFamily="34" charset="0"/>
                <a:ea typeface="IBM Plex Sans" pitchFamily="34" charset="-122"/>
                <a:cs typeface="IBM Plex Sans" pitchFamily="34" charset="-120"/>
              </a:rPr>
              <a:t>2 · Reshape</a:t>
            </a:r>
            <a:endParaRPr lang="en-US" sz="1200" dirty="0"/>
          </a:p>
        </p:txBody>
      </p:sp>
      <p:sp>
        <p:nvSpPr>
          <p:cNvPr id="9" name="Text 7"/>
          <p:cNvSpPr/>
          <p:nvPr/>
        </p:nvSpPr>
        <p:spPr>
          <a:xfrm>
            <a:off x="4563467" y="2819202"/>
            <a:ext cx="315691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A33"/>
                </a:solidFill>
                <a:latin typeface="IBM Plex Sans" pitchFamily="34" charset="0"/>
                <a:ea typeface="IBM Plex Sans" pitchFamily="34" charset="-122"/>
                <a:cs typeface="IBM Plex Sans" pitchFamily="34" charset="-120"/>
              </a:rPr>
              <a:t>Facture and Avoir become XR and XS rows on GL 248601 and 348919.</a:t>
            </a:r>
            <a:endParaRPr lang="en-US" sz="1200" dirty="0"/>
          </a:p>
        </p:txBody>
      </p:sp>
      <p:sp>
        <p:nvSpPr>
          <p:cNvPr id="10" name="Shape 8"/>
          <p:cNvSpPr/>
          <p:nvPr/>
        </p:nvSpPr>
        <p:spPr>
          <a:xfrm>
            <a:off x="7958634" y="2377281"/>
            <a:ext cx="3420566" cy="1046361"/>
          </a:xfrm>
          <a:prstGeom prst="roundRect">
            <a:avLst>
              <a:gd name="adj" fmla="val 9710"/>
            </a:avLst>
          </a:prstGeom>
          <a:solidFill>
            <a:srgbClr val="FFFFFF"/>
          </a:solidFill>
          <a:ln/>
        </p:spPr>
      </p:sp>
      <p:sp>
        <p:nvSpPr>
          <p:cNvPr id="11" name="Text 9"/>
          <p:cNvSpPr/>
          <p:nvPr/>
        </p:nvSpPr>
        <p:spPr>
          <a:xfrm>
            <a:off x="8136434" y="2555081"/>
            <a:ext cx="315691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E99"/>
                </a:solidFill>
                <a:latin typeface="IBM Plex Sans" pitchFamily="34" charset="0"/>
                <a:ea typeface="IBM Plex Sans" pitchFamily="34" charset="-122"/>
                <a:cs typeface="IBM Plex Sans" pitchFamily="34" charset="-120"/>
              </a:rPr>
              <a:t>3 · Remove duplicates</a:t>
            </a:r>
            <a:endParaRPr lang="en-US" sz="1200" dirty="0"/>
          </a:p>
        </p:txBody>
      </p:sp>
      <p:sp>
        <p:nvSpPr>
          <p:cNvPr id="12" name="Text 10"/>
          <p:cNvSpPr/>
          <p:nvPr/>
        </p:nvSpPr>
        <p:spPr>
          <a:xfrm>
            <a:off x="8136434" y="2819202"/>
            <a:ext cx="315691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A33"/>
                </a:solidFill>
                <a:latin typeface="IBM Plex Sans" pitchFamily="34" charset="0"/>
                <a:ea typeface="IBM Plex Sans" pitchFamily="34" charset="-122"/>
                <a:cs typeface="IBM Plex Sans" pitchFamily="34" charset="-120"/>
              </a:rPr>
              <a:t>A line seen in two monthly reports is counted once, from the earliest file.</a:t>
            </a:r>
            <a:endParaRPr lang="en-US" sz="1200" dirty="0"/>
          </a:p>
        </p:txBody>
      </p:sp>
      <p:sp>
        <p:nvSpPr>
          <p:cNvPr id="13" name="Shape 11"/>
          <p:cNvSpPr/>
          <p:nvPr/>
        </p:nvSpPr>
        <p:spPr>
          <a:xfrm>
            <a:off x="812800" y="3576042"/>
            <a:ext cx="3420467" cy="1259681"/>
          </a:xfrm>
          <a:prstGeom prst="roundRect">
            <a:avLst>
              <a:gd name="adj" fmla="val 8066"/>
            </a:avLst>
          </a:prstGeom>
          <a:solidFill>
            <a:srgbClr val="FFFFFF"/>
          </a:solidFill>
          <a:ln/>
        </p:spPr>
      </p:sp>
      <p:sp>
        <p:nvSpPr>
          <p:cNvPr id="14" name="Text 12"/>
          <p:cNvSpPr/>
          <p:nvPr/>
        </p:nvSpPr>
        <p:spPr>
          <a:xfrm>
            <a:off x="990600" y="3753842"/>
            <a:ext cx="315681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E99"/>
                </a:solidFill>
                <a:latin typeface="IBM Plex Sans" pitchFamily="34" charset="0"/>
                <a:ea typeface="IBM Plex Sans" pitchFamily="34" charset="-122"/>
                <a:cs typeface="IBM Plex Sans" pitchFamily="34" charset="-120"/>
              </a:rPr>
              <a:t>4 · Match to SAP</a:t>
            </a:r>
            <a:endParaRPr lang="en-US" sz="1200" dirty="0"/>
          </a:p>
        </p:txBody>
      </p:sp>
      <p:sp>
        <p:nvSpPr>
          <p:cNvPr id="15" name="Text 13"/>
          <p:cNvSpPr/>
          <p:nvPr/>
        </p:nvSpPr>
        <p:spPr>
          <a:xfrm>
            <a:off x="990600" y="4017963"/>
            <a:ext cx="315681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A33"/>
                </a:solidFill>
                <a:latin typeface="IBM Plex Sans" pitchFamily="34" charset="0"/>
                <a:ea typeface="IBM Plex Sans" pitchFamily="34" charset="-122"/>
                <a:cs typeface="IBM Plex Sans" pitchFamily="34" charset="-120"/>
              </a:rPr>
              <a:t>SAP grouped per key, then a full match both ways, with checks so nothing is counted twice.</a:t>
            </a:r>
            <a:endParaRPr lang="en-US" sz="1200" dirty="0"/>
          </a:p>
        </p:txBody>
      </p:sp>
      <p:sp>
        <p:nvSpPr>
          <p:cNvPr id="16" name="Shape 14"/>
          <p:cNvSpPr/>
          <p:nvPr/>
        </p:nvSpPr>
        <p:spPr>
          <a:xfrm>
            <a:off x="4385667" y="3576042"/>
            <a:ext cx="3420566" cy="1259681"/>
          </a:xfrm>
          <a:prstGeom prst="roundRect">
            <a:avLst>
              <a:gd name="adj" fmla="val 8066"/>
            </a:avLst>
          </a:prstGeom>
          <a:solidFill>
            <a:srgbClr val="FFFFFF"/>
          </a:solidFill>
          <a:ln/>
        </p:spPr>
      </p:sp>
      <p:sp>
        <p:nvSpPr>
          <p:cNvPr id="17" name="Text 15"/>
          <p:cNvSpPr/>
          <p:nvPr/>
        </p:nvSpPr>
        <p:spPr>
          <a:xfrm>
            <a:off x="4563467" y="3753842"/>
            <a:ext cx="315691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E99"/>
                </a:solidFill>
                <a:latin typeface="IBM Plex Sans" pitchFamily="34" charset="0"/>
                <a:ea typeface="IBM Plex Sans" pitchFamily="34" charset="-122"/>
                <a:cs typeface="IBM Plex Sans" pitchFamily="34" charset="-120"/>
              </a:rPr>
              <a:t>5 · Give a reason</a:t>
            </a:r>
            <a:endParaRPr lang="en-US" sz="1200" dirty="0"/>
          </a:p>
        </p:txBody>
      </p:sp>
      <p:sp>
        <p:nvSpPr>
          <p:cNvPr id="18" name="Text 16"/>
          <p:cNvSpPr/>
          <p:nvPr/>
        </p:nvSpPr>
        <p:spPr>
          <a:xfrm>
            <a:off x="4563467" y="4017963"/>
            <a:ext cx="315691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A33"/>
                </a:solidFill>
                <a:latin typeface="IBM Plex Sans" pitchFamily="34" charset="0"/>
                <a:ea typeface="IBM Plex Sans" pitchFamily="34" charset="-122"/>
                <a:cs typeface="IBM Plex Sans" pitchFamily="34" charset="-120"/>
              </a:rPr>
              <a:t>Settled, rounding, not posted in SAP, in SAP only, SAP higher, Veepee higher, cancelled.</a:t>
            </a:r>
            <a:endParaRPr lang="en-US" sz="1200" dirty="0"/>
          </a:p>
        </p:txBody>
      </p:sp>
      <p:sp>
        <p:nvSpPr>
          <p:cNvPr id="19" name="Shape 17"/>
          <p:cNvSpPr/>
          <p:nvPr/>
        </p:nvSpPr>
        <p:spPr>
          <a:xfrm>
            <a:off x="7958634" y="3576042"/>
            <a:ext cx="3420566" cy="1259681"/>
          </a:xfrm>
          <a:prstGeom prst="roundRect">
            <a:avLst>
              <a:gd name="adj" fmla="val 8066"/>
            </a:avLst>
          </a:prstGeom>
          <a:solidFill>
            <a:srgbClr val="FFFFFF"/>
          </a:solidFill>
          <a:ln/>
        </p:spPr>
      </p:sp>
      <p:sp>
        <p:nvSpPr>
          <p:cNvPr id="20" name="Text 18"/>
          <p:cNvSpPr/>
          <p:nvPr/>
        </p:nvSpPr>
        <p:spPr>
          <a:xfrm>
            <a:off x="8136434" y="3753842"/>
            <a:ext cx="315691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4615"/>
                </a:solidFill>
                <a:latin typeface="IBM Plex Sans" pitchFamily="34" charset="0"/>
                <a:ea typeface="IBM Plex Sans" pitchFamily="34" charset="-122"/>
                <a:cs typeface="IBM Plex Sans" pitchFamily="34" charset="-120"/>
              </a:rPr>
              <a:t>6 · Match the cash</a:t>
            </a:r>
            <a:endParaRPr lang="en-US" sz="1200" dirty="0"/>
          </a:p>
        </p:txBody>
      </p:sp>
      <p:sp>
        <p:nvSpPr>
          <p:cNvPr id="21" name="Text 19"/>
          <p:cNvSpPr/>
          <p:nvPr/>
        </p:nvSpPr>
        <p:spPr>
          <a:xfrm>
            <a:off x="8136434" y="4017963"/>
            <a:ext cx="315691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2A33"/>
                </a:solidFill>
                <a:latin typeface="IBM Plex Sans" pitchFamily="34" charset="0"/>
                <a:ea typeface="IBM Plex Sans" pitchFamily="34" charset="-122"/>
                <a:cs typeface="IBM Plex Sans" pitchFamily="34" charset="-120"/>
              </a:rPr>
              <a:t>Each remittance line joins its order key and takes the month Veepee first reported it.</a:t>
            </a:r>
            <a:endParaRPr lang="en-US" sz="1200" dirty="0"/>
          </a:p>
        </p:txBody>
      </p:sp>
      <p:sp>
        <p:nvSpPr>
          <p:cNvPr id="22" name="Text 20"/>
          <p:cNvSpPr/>
          <p:nvPr/>
        </p:nvSpPr>
        <p:spPr>
          <a:xfrm>
            <a:off x="812800" y="5064323"/>
            <a:ext cx="1088339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35B"/>
                </a:solidFill>
                <a:latin typeface="IBM Plex Sans" pitchFamily="34" charset="0"/>
                <a:ea typeface="IBM Plex Sans" pitchFamily="34" charset="-122"/>
                <a:cs typeface="IBM Plex Sans" pitchFamily="34" charset="-120"/>
              </a:rPr>
              <a:t>Open or settled now comes from the match itself, never from a typed-in column. Every number drills down to the SAP posting and the Veepee line behind it.</a:t>
            </a:r>
            <a:endParaRPr lang="en-US" sz="14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Power Query (M) for the data, DAX measures for the pages: Hazel’s rec, Summer’s allocation, order drill-through</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D2A3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C3E0"/>
                </a:solidFill>
                <a:latin typeface="IBM Plex Sans" pitchFamily="34" charset="0"/>
                <a:ea typeface="IBM Plex Sans" pitchFamily="34" charset="-122"/>
                <a:cs typeface="IBM Plex Sans" pitchFamily="34" charset="-120"/>
              </a:rPr>
              <a:t>THE RESULT</a:t>
            </a:r>
            <a:endParaRPr lang="en-US" sz="1200" dirty="0"/>
          </a:p>
        </p:txBody>
      </p:sp>
      <p:sp>
        <p:nvSpPr>
          <p:cNvPr id="3" name="Text 1"/>
          <p:cNvSpPr/>
          <p:nvPr>
            <p:ph type="title"/>
          </p:nvPr>
        </p:nvSpPr>
        <p:spPr>
          <a:xfrm>
            <a:off x="812800" y="12547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5F1"/>
                </a:solidFill>
                <a:latin typeface="Source Serif 4" pitchFamily="18" charset="0"/>
                <a:ea typeface="Source Serif 4" pitchFamily="18" charset="-122"/>
                <a:cs typeface="Source Serif 4" pitchFamily="18" charset="-120"/>
              </a:rPr>
              <a:t>Every difference now has a reason, an owner and an order behind it</a:t>
            </a:r>
            <a:endParaRPr lang="en-US" sz="3200" dirty="0"/>
          </a:p>
        </p:txBody>
      </p:sp>
      <p:sp>
        <p:nvSpPr>
          <p:cNvPr id="4" name="Shape 2"/>
          <p:cNvSpPr/>
          <p:nvPr/>
        </p:nvSpPr>
        <p:spPr>
          <a:xfrm>
            <a:off x="812800" y="2377281"/>
            <a:ext cx="5156200" cy="2567583"/>
          </a:xfrm>
          <a:prstGeom prst="roundRect">
            <a:avLst>
              <a:gd name="adj" fmla="val 3957"/>
            </a:avLst>
          </a:prstGeom>
          <a:solidFill>
            <a:srgbClr val="26394A"/>
          </a:solidFill>
          <a:ln/>
        </p:spPr>
      </p:sp>
      <p:sp>
        <p:nvSpPr>
          <p:cNvPr id="5" name="Text 3"/>
          <p:cNvSpPr/>
          <p:nvPr/>
        </p:nvSpPr>
        <p:spPr>
          <a:xfrm>
            <a:off x="1041400" y="2605881"/>
            <a:ext cx="48399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C3E0"/>
                </a:solidFill>
                <a:latin typeface="IBM Plex Sans" pitchFamily="34" charset="0"/>
                <a:ea typeface="IBM Plex Sans" pitchFamily="34" charset="-122"/>
                <a:cs typeface="IBM Plex Sans" pitchFamily="34" charset="-120"/>
              </a:rPr>
              <a:t>HAZEL · SAP VS VEEPEE</a:t>
            </a:r>
            <a:endParaRPr lang="en-US" sz="1200" dirty="0"/>
          </a:p>
        </p:txBody>
      </p:sp>
      <p:sp>
        <p:nvSpPr>
          <p:cNvPr id="6" name="Text 4"/>
          <p:cNvSpPr/>
          <p:nvPr/>
        </p:nvSpPr>
        <p:spPr>
          <a:xfrm>
            <a:off x="1041400" y="2946202"/>
            <a:ext cx="2315337"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6F5F1"/>
                </a:solidFill>
                <a:latin typeface="IBM Plex Sans" pitchFamily="34" charset="0"/>
                <a:ea typeface="IBM Plex Sans" pitchFamily="34" charset="-122"/>
                <a:cs typeface="IBM Plex Sans" pitchFamily="34" charset="-120"/>
              </a:rPr>
              <a:t>91.6%</a:t>
            </a:r>
            <a:endParaRPr lang="en-US" sz="2800" dirty="0"/>
          </a:p>
        </p:txBody>
      </p:sp>
      <p:sp>
        <p:nvSpPr>
          <p:cNvPr id="7" name="Text 5"/>
          <p:cNvSpPr/>
          <p:nvPr/>
        </p:nvSpPr>
        <p:spPr>
          <a:xfrm>
            <a:off x="1041400" y="3469382"/>
            <a:ext cx="231533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E0"/>
                </a:solidFill>
                <a:latin typeface="IBM Plex Sans" pitchFamily="34" charset="0"/>
                <a:ea typeface="IBM Plex Sans" pitchFamily="34" charset="-122"/>
                <a:cs typeface="IBM Plex Sans" pitchFamily="34" charset="-120"/>
              </a:rPr>
              <a:t>of 30,502 keys settled automatically</a:t>
            </a:r>
            <a:endParaRPr lang="en-US" sz="1200" dirty="0"/>
          </a:p>
        </p:txBody>
      </p:sp>
      <p:sp>
        <p:nvSpPr>
          <p:cNvPr id="8" name="Text 6"/>
          <p:cNvSpPr/>
          <p:nvPr/>
        </p:nvSpPr>
        <p:spPr>
          <a:xfrm>
            <a:off x="3492500" y="2946202"/>
            <a:ext cx="2315337"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6F5F1"/>
                </a:solidFill>
                <a:latin typeface="IBM Plex Sans" pitchFamily="34" charset="0"/>
                <a:ea typeface="IBM Plex Sans" pitchFamily="34" charset="-122"/>
                <a:cs typeface="IBM Plex Sans" pitchFamily="34" charset="-120"/>
              </a:rPr>
              <a:t>2,563</a:t>
            </a:r>
            <a:endParaRPr lang="en-US" sz="2800" dirty="0"/>
          </a:p>
        </p:txBody>
      </p:sp>
      <p:sp>
        <p:nvSpPr>
          <p:cNvPr id="9" name="Text 7"/>
          <p:cNvSpPr/>
          <p:nvPr/>
        </p:nvSpPr>
        <p:spPr>
          <a:xfrm>
            <a:off x="3492500" y="3469382"/>
            <a:ext cx="23153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E0"/>
                </a:solidFill>
                <a:latin typeface="IBM Plex Sans" pitchFamily="34" charset="0"/>
                <a:ea typeface="IBM Plex Sans" pitchFamily="34" charset="-122"/>
                <a:cs typeface="IBM Plex Sans" pitchFamily="34" charset="-120"/>
              </a:rPr>
              <a:t>open keys, each with a reason</a:t>
            </a:r>
            <a:endParaRPr lang="en-US" sz="1200" dirty="0"/>
          </a:p>
        </p:txBody>
      </p:sp>
      <p:sp>
        <p:nvSpPr>
          <p:cNvPr id="10" name="Text 8"/>
          <p:cNvSpPr/>
          <p:nvPr/>
        </p:nvSpPr>
        <p:spPr>
          <a:xfrm>
            <a:off x="1041400" y="4023023"/>
            <a:ext cx="483997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1"/>
                </a:solidFill>
                <a:latin typeface="IBM Plex Sans" pitchFamily="34" charset="0"/>
                <a:ea typeface="IBM Plex Sans" pitchFamily="34" charset="-122"/>
                <a:cs typeface="IBM Plex Sans" pitchFamily="34" charset="-120"/>
              </a:rPr>
              <a:t>€20,725.95 SAP over Veepee, fully explained. Found 62 cancelled orders where SAP never posted the refund (€2,260.22).</a:t>
            </a:r>
            <a:endParaRPr lang="en-US" sz="1300" dirty="0"/>
          </a:p>
        </p:txBody>
      </p:sp>
      <p:sp>
        <p:nvSpPr>
          <p:cNvPr id="11" name="Shape 9"/>
          <p:cNvSpPr/>
          <p:nvPr/>
        </p:nvSpPr>
        <p:spPr>
          <a:xfrm>
            <a:off x="6223000" y="2377281"/>
            <a:ext cx="5156200" cy="2567583"/>
          </a:xfrm>
          <a:prstGeom prst="roundRect">
            <a:avLst>
              <a:gd name="adj" fmla="val 3957"/>
            </a:avLst>
          </a:prstGeom>
          <a:solidFill>
            <a:srgbClr val="3A2E28"/>
          </a:solidFill>
          <a:ln/>
        </p:spPr>
      </p:sp>
      <p:sp>
        <p:nvSpPr>
          <p:cNvPr id="12" name="Text 10"/>
          <p:cNvSpPr/>
          <p:nvPr/>
        </p:nvSpPr>
        <p:spPr>
          <a:xfrm>
            <a:off x="6451600" y="2605881"/>
            <a:ext cx="48399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C9A8"/>
                </a:solidFill>
                <a:latin typeface="IBM Plex Sans" pitchFamily="34" charset="0"/>
                <a:ea typeface="IBM Plex Sans" pitchFamily="34" charset="-122"/>
                <a:cs typeface="IBM Plex Sans" pitchFamily="34" charset="-120"/>
              </a:rPr>
              <a:t>SUMMER · CASH ALLOCATION</a:t>
            </a:r>
            <a:endParaRPr lang="en-US" sz="1200" dirty="0"/>
          </a:p>
        </p:txBody>
      </p:sp>
      <p:sp>
        <p:nvSpPr>
          <p:cNvPr id="13" name="Text 11"/>
          <p:cNvSpPr/>
          <p:nvPr/>
        </p:nvSpPr>
        <p:spPr>
          <a:xfrm>
            <a:off x="6451600" y="2946202"/>
            <a:ext cx="2315337"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6F5F1"/>
                </a:solidFill>
                <a:latin typeface="IBM Plex Sans" pitchFamily="34" charset="0"/>
                <a:ea typeface="IBM Plex Sans" pitchFamily="34" charset="-122"/>
                <a:cs typeface="IBM Plex Sans" pitchFamily="34" charset="-120"/>
              </a:rPr>
              <a:t>€401K</a:t>
            </a:r>
            <a:endParaRPr lang="en-US" sz="2800" dirty="0"/>
          </a:p>
        </p:txBody>
      </p:sp>
      <p:sp>
        <p:nvSpPr>
          <p:cNvPr id="14" name="Text 12"/>
          <p:cNvSpPr/>
          <p:nvPr/>
        </p:nvSpPr>
        <p:spPr>
          <a:xfrm>
            <a:off x="6451600" y="3469382"/>
            <a:ext cx="23153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D6CB"/>
                </a:solidFill>
                <a:latin typeface="IBM Plex Sans" pitchFamily="34" charset="0"/>
                <a:ea typeface="IBM Plex Sans" pitchFamily="34" charset="-122"/>
                <a:cs typeface="IBM Plex Sans" pitchFamily="34" charset="-120"/>
              </a:rPr>
              <a:t>posted straight to May to Sep</a:t>
            </a:r>
            <a:endParaRPr lang="en-US" sz="1200" dirty="0"/>
          </a:p>
        </p:txBody>
      </p:sp>
      <p:sp>
        <p:nvSpPr>
          <p:cNvPr id="15" name="Text 13"/>
          <p:cNvSpPr/>
          <p:nvPr/>
        </p:nvSpPr>
        <p:spPr>
          <a:xfrm>
            <a:off x="8902700" y="2946202"/>
            <a:ext cx="2315337"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6F5F1"/>
                </a:solidFill>
                <a:latin typeface="IBM Plex Sans" pitchFamily="34" charset="0"/>
                <a:ea typeface="IBM Plex Sans" pitchFamily="34" charset="-122"/>
                <a:cs typeface="IBM Plex Sans" pitchFamily="34" charset="-120"/>
              </a:rPr>
              <a:t>€115.91</a:t>
            </a:r>
            <a:endParaRPr lang="en-US" sz="2800" dirty="0"/>
          </a:p>
        </p:txBody>
      </p:sp>
      <p:sp>
        <p:nvSpPr>
          <p:cNvPr id="16" name="Text 14"/>
          <p:cNvSpPr/>
          <p:nvPr/>
        </p:nvSpPr>
        <p:spPr>
          <a:xfrm>
            <a:off x="8902700" y="3469382"/>
            <a:ext cx="23153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D6CB"/>
                </a:solidFill>
                <a:latin typeface="IBM Plex Sans" pitchFamily="34" charset="0"/>
                <a:ea typeface="IBM Plex Sans" pitchFamily="34" charset="-122"/>
                <a:cs typeface="IBM Plex Sans" pitchFamily="34" charset="-120"/>
              </a:rPr>
              <a:t>real variance: 4 orders to query</a:t>
            </a:r>
            <a:endParaRPr lang="en-US" sz="1200" dirty="0"/>
          </a:p>
        </p:txBody>
      </p:sp>
      <p:sp>
        <p:nvSpPr>
          <p:cNvPr id="17" name="Text 15"/>
          <p:cNvSpPr/>
          <p:nvPr/>
        </p:nvSpPr>
        <p:spPr>
          <a:xfrm>
            <a:off x="6451600" y="3809702"/>
            <a:ext cx="483997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1"/>
                </a:solidFill>
                <a:latin typeface="IBM Plex Sans" pitchFamily="34" charset="0"/>
                <a:ea typeface="IBM Plex Sans" pitchFamily="34" charset="-122"/>
                <a:cs typeface="IBM Plex Sans" pitchFamily="34" charset="-120"/>
              </a:rPr>
              <a:t>€397,323.59 cash ties to all 13 files. €4,056.71 refunds wait on Veepee’s next report; €5,339.58 of September orders not paid yet.</a:t>
            </a:r>
            <a:endParaRPr lang="en-US" sz="1300" dirty="0"/>
          </a:p>
        </p:txBody>
      </p:sp>
      <p:sp>
        <p:nvSpPr>
          <p:cNvPr id="18" name="Text 16"/>
          <p:cNvSpPr/>
          <p:nvPr/>
        </p:nvSpPr>
        <p:spPr>
          <a:xfrm>
            <a:off x="812800" y="5173464"/>
            <a:ext cx="3453384"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Minutes, not days:</a:t>
            </a:r>
            <a:r>
              <a:rPr lang="en-US" sz="1400" dirty="0">
                <a:solidFill>
                  <a:srgbClr val="F6F5F1"/>
                </a:solidFill>
                <a:latin typeface="IBM Plex Sans" pitchFamily="34" charset="0"/>
                <a:ea typeface="IBM Plex Sans" pitchFamily="34" charset="-122"/>
                <a:cs typeface="IBM Plex Sans" pitchFamily="34" charset="-120"/>
              </a:rPr>
              <a:t> drop the file, refresh.</a:t>
            </a:r>
            <a:endParaRPr lang="en-US" sz="1400" dirty="0"/>
          </a:p>
        </p:txBody>
      </p:sp>
      <p:sp>
        <p:nvSpPr>
          <p:cNvPr id="19" name="Text 17"/>
          <p:cNvSpPr/>
          <p:nvPr/>
        </p:nvSpPr>
        <p:spPr>
          <a:xfrm>
            <a:off x="4419600" y="5173464"/>
            <a:ext cx="3453384"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One rule for everyone:</a:t>
            </a:r>
            <a:r>
              <a:rPr lang="en-US" sz="1400" dirty="0">
                <a:solidFill>
                  <a:srgbClr val="F6F5F1"/>
                </a:solidFill>
                <a:latin typeface="IBM Plex Sans" pitchFamily="34" charset="0"/>
                <a:ea typeface="IBM Plex Sans" pitchFamily="34" charset="-122"/>
                <a:cs typeface="IBM Plex Sans" pitchFamily="34" charset="-120"/>
              </a:rPr>
              <a:t> no manual open column.</a:t>
            </a:r>
            <a:endParaRPr lang="en-US" sz="1400" dirty="0"/>
          </a:p>
        </p:txBody>
      </p:sp>
      <p:sp>
        <p:nvSpPr>
          <p:cNvPr id="20" name="Text 18"/>
          <p:cNvSpPr/>
          <p:nvPr/>
        </p:nvSpPr>
        <p:spPr>
          <a:xfrm>
            <a:off x="8026400" y="5173464"/>
            <a:ext cx="3453384"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Drill to the line:</a:t>
            </a:r>
            <a:r>
              <a:rPr lang="en-US" sz="1400" dirty="0">
                <a:solidFill>
                  <a:srgbClr val="F6F5F1"/>
                </a:solidFill>
                <a:latin typeface="IBM Plex Sans" pitchFamily="34" charset="0"/>
                <a:ea typeface="IBM Plex Sans" pitchFamily="34" charset="-122"/>
                <a:cs typeface="IBM Plex Sans" pitchFamily="34" charset="-120"/>
              </a:rPr>
              <a:t> SAP document and Veepee line per order.</a:t>
            </a:r>
            <a:endParaRPr lang="en-US" sz="1400" dirty="0"/>
          </a:p>
        </p:txBody>
      </p:sp>
      <p:sp>
        <p:nvSpPr>
          <p:cNvPr id="21"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3"/>
                </a:solidFill>
                <a:latin typeface="IBM Plex Sans" pitchFamily="34" charset="0"/>
                <a:ea typeface="IBM Plex Sans" pitchFamily="34" charset="-122"/>
                <a:cs typeface="IBM Plex Sans" pitchFamily="34" charset="-120"/>
              </a:rPr>
              <a:t>Figures: Veepee reports May to Sep 2026, SAP download, 13 remittance files</a:t>
            </a:r>
            <a:endParaRPr lang="en-US" sz="1200" dirty="0"/>
          </a:p>
        </p:txBody>
      </p:sp>
    </p:spTree>
  </p:cSld>
  <p:clrMapOvr>
    <a:masterClrMapping/>
  </p:clrMapOvr>
</p:sld>
</file>

<file path=ppt/theme/theme1.xml><?xml version="1.0" encoding="utf-8"?>
<a:theme xmlns:a="http://schemas.openxmlformats.org/drawingml/2006/main" name="Veepee Reconciliation in Power BI">
  <a:themeElements>
    <a:clrScheme name="Veepee Reconciliation in Power BI">
      <a:dk1>
        <a:srgbClr val="1D2A33"/>
      </a:dk1>
      <a:lt1>
        <a:srgbClr val="F6F5F1"/>
      </a:lt1>
      <a:dk2>
        <a:srgbClr val="535D63"/>
      </a:dk2>
      <a:lt2>
        <a:srgbClr val="E0E1DE"/>
      </a:lt2>
      <a:accent1>
        <a:srgbClr val="2F6E99"/>
      </a:accent1>
      <a:accent2>
        <a:srgbClr val="9A4615"/>
      </a:accent2>
      <a:accent3>
        <a:srgbClr val="F2C9A8"/>
      </a:accent3>
      <a:accent4>
        <a:srgbClr val="9CC3E0"/>
      </a:accent4>
      <a:accent5>
        <a:srgbClr val="4A535B"/>
      </a:accent5>
      <a:accent6>
        <a:srgbClr val="6A7179"/>
      </a:accent6>
      <a:hlink>
        <a:srgbClr val="0563C1"/>
      </a:hlink>
      <a:folHlink>
        <a:srgbClr val="954F72"/>
      </a:folHlink>
    </a:clrScheme>
    <a:fontScheme name="Veepee Reconciliation in Power BI">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Veepee Reconciliation in Power BI</dc:title>
  <dc:subject/>
  <dc:creator/>
  <cp:lastModifiedBy/>
  <cp:revision>1</cp:revision>
  <dcterms:created xsi:type="dcterms:W3CDTF">2026-10-25T15:40:39Z</dcterms:created>
  <dcterms:modified xsi:type="dcterms:W3CDTF">2026-10-25T15:40:39Z</dcterms:modified>
</cp:coreProperties>
</file>